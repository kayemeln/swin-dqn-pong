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7" r:id="rId5"/>
    <p:sldId id="272" r:id="rId6"/>
    <p:sldId id="274" r:id="rId7"/>
    <p:sldId id="275" r:id="rId8"/>
    <p:sldId id="276" r:id="rId9"/>
    <p:sldId id="278" r:id="rId10"/>
    <p:sldId id="277" r:id="rId11"/>
    <p:sldId id="270" r:id="rId12"/>
    <p:sldId id="279" r:id="rId13"/>
    <p:sldId id="260" r:id="rId14"/>
    <p:sldId id="281" r:id="rId15"/>
  </p:sldIdLst>
  <p:sldSz cx="9144000" cy="5143500" type="screen16x9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3B9"/>
    <a:srgbClr val="3E6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4EBAF-4745-D2D6-5244-21543BC015BE}" v="36" dt="2026-03-18T19:57:25.629"/>
    <p1510:client id="{351E2ED5-43CB-5200-B413-F8215CDA47EC}" v="343" dt="2026-03-18T14:01:41.013"/>
    <p1510:client id="{4AC2F49E-762B-5D26-08E7-E203B9171F9F}" v="39" dt="2026-03-18T23:57:07.191"/>
    <p1510:client id="{5EEAC193-DF34-4BB8-B3D2-2C0217749FFF}" v="1223" dt="2026-03-18T23:32:42.605"/>
    <p1510:client id="{69235516-AF5F-2D04-50AD-97064650121A}" v="98" dt="2026-03-19T11:18:09.352"/>
    <p1510:client id="{8DC4ABC9-A268-6613-E161-4716C8018C94}" v="415" dt="2026-03-19T08:13:58.085"/>
    <p1510:client id="{A1E251EA-8594-4945-8D22-978902EC0147}" v="538" dt="2026-03-18T20:39:34.068"/>
    <p1510:client id="{D67C1A44-08D4-8E76-917A-710147671728}" v="183" dt="2026-03-18T14:28:29.301"/>
    <p1510:client id="{E65CB76F-6D3A-5E45-1C81-8DCEC6E25149}" v="12" dt="2026-03-19T10:37:13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239"/>
        <p:guide pos="51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3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2876" y="9449911"/>
            <a:ext cx="835124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49DD4D23-C98A-435E-AE88-9061F8349B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03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35CB-A8D9-1D05-BDCB-64FFF2E1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35C56-8F9C-78F0-32E9-E949D83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DB141-A5C1-973E-018D-BAC6B93E5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>
                <a:cs typeface="Calibri"/>
              </a:rPr>
              <a:t>Quick recap – our project focused on getting an RL agent to learn to play the </a:t>
            </a:r>
            <a:r>
              <a:rPr lang="en-IE" err="1">
                <a:cs typeface="Calibri"/>
              </a:rPr>
              <a:t>atari</a:t>
            </a:r>
            <a:r>
              <a:rPr lang="en-IE">
                <a:cs typeface="Calibri"/>
              </a:rPr>
              <a:t> game pong, compare performance using CNN vs SWIN transformer</a:t>
            </a:r>
            <a:endParaRPr lang="en-US">
              <a:cs typeface="Calibri"/>
            </a:endParaRPr>
          </a:p>
          <a:p>
            <a:r>
              <a:rPr lang="en-IE"/>
              <a:t>Aim of RL is for an agent to learn to make decisions by interacting with its environment, goal is to maximise the total future reward </a:t>
            </a:r>
          </a:p>
          <a:p>
            <a:r>
              <a:rPr lang="en-IE">
                <a:cs typeface="Calibri"/>
              </a:rPr>
              <a:t>As mentioned last week optimal behaviour is described by an action-value function Q (expected future reward starting from state s taking action a and following policy pi)</a:t>
            </a:r>
            <a:endParaRPr lang="en-IE">
              <a:ea typeface="Calibri"/>
              <a:cs typeface="Calibri"/>
            </a:endParaRPr>
          </a:p>
          <a:p>
            <a:r>
              <a:rPr lang="en-IE">
                <a:cs typeface="Calibri"/>
              </a:rPr>
              <a:t>Today we are going to dive into how this works / how agent learns best action to take from a given state/ these q values</a:t>
            </a:r>
            <a:endParaRPr lang="en-IE">
              <a:ea typeface="Calibri"/>
              <a:cs typeface="Calibri"/>
            </a:endParaRPr>
          </a:p>
          <a:p>
            <a:r>
              <a:rPr lang="en-IE"/>
              <a:t>Classic RL stores Q values for all state action pairs in a look up table, real problems such as our </a:t>
            </a:r>
            <a:r>
              <a:rPr lang="en-IE" err="1"/>
              <a:t>atari</a:t>
            </a:r>
            <a:r>
              <a:rPr lang="en-IE"/>
              <a:t> game pong have huge state spaces - </a:t>
            </a:r>
            <a:r>
              <a:rPr lang="en-IE" err="1"/>
              <a:t>atari</a:t>
            </a:r>
            <a:r>
              <a:rPr lang="en-IE"/>
              <a:t> pixels - millions of states</a:t>
            </a:r>
          </a:p>
          <a:p>
            <a:r>
              <a:rPr lang="en-IE"/>
              <a:t>Problems such as too many state action pairs to store in memory/ too slow to learn the value of each state individually</a:t>
            </a:r>
          </a:p>
          <a:p>
            <a:r>
              <a:rPr lang="en-IE"/>
              <a:t>Need a way to approximate our value function </a:t>
            </a:r>
            <a:r>
              <a:rPr lang="en-IE" err="1"/>
              <a:t>ie</a:t>
            </a:r>
            <a:r>
              <a:rPr lang="en-IE"/>
              <a:t> these Q values</a:t>
            </a:r>
          </a:p>
          <a:p>
            <a:r>
              <a:rPr lang="en-IE"/>
              <a:t>We do this using DQN</a:t>
            </a:r>
          </a:p>
          <a:p>
            <a:endParaRPr lang="en-IE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B8B9A-8815-F0D6-5730-1362424B9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9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9190-C5D6-E9F2-505E-CC7040AB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DBAFC-E092-A8A8-AE97-A0F8AFB86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C56F7-E96F-6A1C-8692-BE83AECD3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>
                <a:ea typeface="Calibri"/>
                <a:cs typeface="Calibri"/>
              </a:rPr>
              <a:t>Q learning – aim is to learn the value of taking action a from state s and represented by our Q function</a:t>
            </a:r>
          </a:p>
          <a:p>
            <a:r>
              <a:rPr lang="en-IE">
                <a:ea typeface="Calibri"/>
                <a:cs typeface="Calibri"/>
              </a:rPr>
              <a:t>Goal is to find the optimal actional value function</a:t>
            </a:r>
          </a:p>
          <a:p>
            <a:r>
              <a:rPr lang="en-IE">
                <a:ea typeface="Calibri"/>
                <a:cs typeface="Calibri"/>
              </a:rPr>
              <a:t>Update our Q values following update rule</a:t>
            </a:r>
          </a:p>
          <a:p>
            <a:r>
              <a:rPr lang="en-IE">
                <a:ea typeface="Calibri"/>
                <a:cs typeface="Calibri"/>
              </a:rPr>
              <a:t>At each step, we update our estimate using the reward we just observed plus the best possible future value</a:t>
            </a:r>
          </a:p>
          <a:p>
            <a:r>
              <a:rPr lang="en-IE">
                <a:ea typeface="Calibri"/>
                <a:cs typeface="Calibri"/>
              </a:rPr>
              <a:t>This idea is called bootstrapping – update our current estimate using future estimates</a:t>
            </a:r>
          </a:p>
          <a:p>
            <a:r>
              <a:rPr lang="en-IE">
                <a:ea typeface="Calibri"/>
                <a:cs typeface="Calibri"/>
              </a:rPr>
              <a:t>Can learn at each iteration, rather than waiting until the end of the episode to update these q values</a:t>
            </a:r>
          </a:p>
          <a:p>
            <a:r>
              <a:rPr lang="en-IE">
                <a:ea typeface="Calibri"/>
                <a:cs typeface="Calibri"/>
              </a:rPr>
              <a:t>Using off policy control – exploration vs exploitation problem – here we use exploratory policy for selecting agents actions (epsilon greedy policy) but use greedy policy for q learning target, update our estimate assuming we always take the best possible action in the future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727E3-3BD8-C6B7-E5B2-3E087CB78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82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86" y="2786400"/>
            <a:ext cx="7500939" cy="416138"/>
          </a:xfrm>
        </p:spPr>
        <p:txBody>
          <a:bodyPr/>
          <a:lstStyle>
            <a:lvl1pPr algn="l"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IE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675" y="3217050"/>
            <a:ext cx="7500938" cy="271350"/>
          </a:xfr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IE" noProof="0"/>
              <a:t>Click to edit Master subtitle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28688" y="4111318"/>
            <a:ext cx="4679325" cy="734531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567"/>
              </a:spcBef>
              <a:buNone/>
              <a:defRPr sz="14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</p:txBody>
      </p:sp>
      <p:pic>
        <p:nvPicPr>
          <p:cNvPr id="10" name="Picture 9" descr="Trinity College Dubli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7" y="381655"/>
            <a:ext cx="3039743" cy="819370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D207F4AF-8BD7-37FD-EC60-1346BBE90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3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07" t="3474" r="80408" b="-2060"/>
          <a:stretch/>
        </p:blipFill>
        <p:spPr>
          <a:xfrm>
            <a:off x="5018567" y="1"/>
            <a:ext cx="41254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7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5" y="1302191"/>
            <a:ext cx="7500938" cy="3030141"/>
          </a:xfrm>
        </p:spPr>
        <p:txBody>
          <a:bodyPr/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61A7A-40F1-0B45-8A82-94DCCA5E7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35730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5" y="1302192"/>
            <a:ext cx="7500938" cy="2891980"/>
          </a:xfrm>
        </p:spPr>
        <p:txBody>
          <a:bodyPr/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pic>
        <p:nvPicPr>
          <p:cNvPr id="11" name="Picture 10" descr="TCD_Whit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8" y="4642666"/>
            <a:ext cx="1585894" cy="42748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1145CB8-4673-6A47-9176-F0CB30737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420921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6" y="1410807"/>
            <a:ext cx="3933824" cy="2372524"/>
          </a:xfrm>
        </p:spPr>
        <p:txBody>
          <a:bodyPr/>
          <a:lstStyle>
            <a:lvl1pPr marL="276225" indent="-276225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‒"/>
              <a:defRPr sz="1600" b="0"/>
            </a:lvl1pPr>
            <a:lvl2pPr marL="625475" indent="-233363">
              <a:buFont typeface="Arial" panose="020B0604020202020204" pitchFamily="34" charset="0"/>
              <a:buChar char="•"/>
              <a:defRPr sz="1600"/>
            </a:lvl2pPr>
            <a:lvl3pPr marL="912813" indent="-222250">
              <a:defRPr sz="1600"/>
            </a:lvl3pPr>
            <a:lvl4pPr marL="1128713" indent="-190500">
              <a:defRPr sz="1600"/>
            </a:lvl4pPr>
            <a:lvl5pPr marL="1439863" indent="-185738">
              <a:defRPr sz="1600"/>
            </a:lvl5pPr>
          </a:lstStyle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914901" y="1410807"/>
            <a:ext cx="3934800" cy="2372524"/>
          </a:xfrm>
        </p:spPr>
        <p:txBody>
          <a:bodyPr/>
          <a:lstStyle>
            <a:lvl1pPr marL="276225" indent="-276225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‒"/>
              <a:defRPr sz="1600" b="0"/>
            </a:lvl1pPr>
            <a:lvl2pPr marL="625475" indent="-233363">
              <a:buFont typeface="Arial" panose="020B0604020202020204" pitchFamily="34" charset="0"/>
              <a:buChar char="•"/>
              <a:defRPr sz="1600"/>
            </a:lvl2pPr>
            <a:lvl3pPr marL="912813" indent="-222250">
              <a:defRPr sz="1600"/>
            </a:lvl3pPr>
            <a:lvl4pPr marL="1128713" indent="-190500">
              <a:defRPr sz="1600"/>
            </a:lvl4pPr>
            <a:lvl5pPr marL="1439863" indent="-185738">
              <a:defRPr sz="1600"/>
            </a:lvl5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9" name="Picture 8" descr="TCD_Whit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8" y="4642666"/>
            <a:ext cx="1585894" cy="42748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8D990A1-B68F-2A49-BE34-734A4A613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297191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939200" y="1078712"/>
            <a:ext cx="4204800" cy="3807619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83" y="1428750"/>
            <a:ext cx="3819525" cy="2990766"/>
          </a:xfrm>
        </p:spPr>
        <p:txBody>
          <a:bodyPr/>
          <a:lstStyle>
            <a:lvl1pPr marL="238125" indent="-238125">
              <a:spcBef>
                <a:spcPts val="85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sz="1600" b="0"/>
            </a:lvl1pPr>
            <a:lvl2pPr marL="503238" indent="-207963">
              <a:spcBef>
                <a:spcPts val="0"/>
              </a:spcBef>
              <a:spcAft>
                <a:spcPts val="567"/>
              </a:spcAft>
              <a:defRPr sz="16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A149838-4667-8C41-A6F0-AC61A4FAC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128236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078712"/>
            <a:ext cx="9144000" cy="3807619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250068A-6AF5-9545-B42A-0DF4DC42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313861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849E72E-C733-74BC-F8B2-07B1C554E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3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407" t="3474" r="80408" b="-2060"/>
          <a:stretch/>
        </p:blipFill>
        <p:spPr>
          <a:xfrm>
            <a:off x="5018567" y="1"/>
            <a:ext cx="412543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86" y="2786400"/>
            <a:ext cx="7500939" cy="416138"/>
          </a:xfrm>
        </p:spPr>
        <p:txBody>
          <a:bodyPr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IE" noProof="0"/>
              <a:t>Click to edit Master title style</a:t>
            </a:r>
          </a:p>
        </p:txBody>
      </p:sp>
      <p:pic>
        <p:nvPicPr>
          <p:cNvPr id="5" name="Picture 4" descr="Trinity College Dublin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7" y="381655"/>
            <a:ext cx="3039743" cy="8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8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01D4001-B407-4A4F-9142-F1AD168EA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75774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8686" y="270000"/>
            <a:ext cx="7500939" cy="4212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5" y="1303403"/>
            <a:ext cx="7500938" cy="3072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5E529-5F0B-4D4A-84B9-75C65BFBA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107106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0" r:id="rId3"/>
    <p:sldLayoutId id="2147483661" r:id="rId4"/>
    <p:sldLayoutId id="2147483657" r:id="rId5"/>
    <p:sldLayoutId id="2147483658" r:id="rId6"/>
    <p:sldLayoutId id="2147483659" r:id="rId7"/>
    <p:sldLayoutId id="2147483654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417"/>
        </a:spcBef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indent="-3175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68325" indent="-22225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84225" indent="-201613" algn="l" defTabSz="914400" rtl="0" eaLnBrk="1" latinLnBrk="0" hangingPunct="1">
        <a:spcBef>
          <a:spcPts val="1134"/>
        </a:spcBef>
        <a:buClr>
          <a:schemeClr val="tx2"/>
        </a:buClr>
        <a:buFont typeface="Minion Pro" pitchFamily="18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0125" indent="-185738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b="0"/>
              <a:t>EEP55C34 Advanced AI</a:t>
            </a:r>
            <a:endParaRPr lang="en-IE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GB">
                <a:ea typeface="Calibri"/>
                <a:cs typeface="Calibri"/>
              </a:rPr>
              <a:t>Introduction to Deep Q-Learning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28688" y="3952068"/>
            <a:ext cx="4679325" cy="836909"/>
          </a:xfrm>
        </p:spPr>
        <p:txBody>
          <a:bodyPr anchor="b"/>
          <a:lstStyle/>
          <a:p>
            <a:r>
              <a:rPr lang="en-IE" sz="1600"/>
              <a:t>Arlene Haas – Ciarán Cope – Nathaniel Kaye Mellor</a:t>
            </a:r>
            <a:endParaRPr lang="en-US"/>
          </a:p>
          <a:p>
            <a:pPr lvl="1"/>
            <a:r>
              <a:rPr lang="en-IE" sz="1600"/>
              <a:t>Group 1 Technical Presentation </a:t>
            </a:r>
            <a:endParaRPr lang="en-IE" sz="1600" noProof="0">
              <a:ea typeface="Calibri"/>
              <a:cs typeface="Calibri"/>
            </a:endParaRPr>
          </a:p>
          <a:p>
            <a:pPr lvl="2"/>
            <a:r>
              <a:rPr lang="en-IE" sz="1600" noProof="0"/>
              <a:t>Date </a:t>
            </a:r>
            <a:r>
              <a:rPr lang="en-IE" sz="1600"/>
              <a:t>18/03/26</a:t>
            </a:r>
            <a:endParaRPr lang="en-IE" sz="1600" noProof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525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8812-C4F9-C8DB-B8F6-8B43B56F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837600-01A2-A47B-7E05-46048D469ED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07834" y="1799241"/>
                <a:ext cx="3764724" cy="2701102"/>
              </a:xfrm>
            </p:spPr>
            <p:txBody>
              <a:bodyPr vert="horz" lIns="0" tIns="0" rIns="0" bIns="0" rtlCol="0" anchor="ctr">
                <a:noAutofit/>
              </a:bodyPr>
              <a:lstStyle/>
              <a:p>
                <a:r>
                  <a:rPr lang="en-IE" sz="1800"/>
                  <a:t>Goal: Select actions to maximise total future reward</a:t>
                </a:r>
                <a:endParaRPr lang="en-US" sz="1800">
                  <a:ea typeface="Calibri"/>
                  <a:cs typeface="Calibri"/>
                </a:endParaRPr>
              </a:p>
              <a:p>
                <a:r>
                  <a:rPr lang="en-IE" sz="1800">
                    <a:ea typeface="Calibri"/>
                    <a:cs typeface="Calibri"/>
                  </a:rPr>
                  <a:t>Learn the optimal action-value function, </a:t>
                </a:r>
                <a14:m>
                  <m:oMath xmlns:m="http://schemas.openxmlformats.org/officeDocument/2006/math"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𝑄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𝑠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 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𝑎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endParaRPr lang="en-IE" sz="1800">
                  <a:ea typeface="Calibri"/>
                  <a:cs typeface="Calibri"/>
                </a:endParaRPr>
              </a:p>
              <a:p>
                <a:r>
                  <a:rPr lang="en-IE" sz="1800">
                    <a:ea typeface="Calibri"/>
                    <a:cs typeface="Calibri"/>
                  </a:rPr>
                  <a:t>Real problems have huge state spaces</a:t>
                </a:r>
              </a:p>
              <a:p>
                <a:pPr marL="502920" lvl="1" indent="-207645">
                  <a:spcAft>
                    <a:spcPts val="0"/>
                  </a:spcAft>
                  <a:buFont typeface="Courier New" panose="020F0502020204030204" pitchFamily="34" charset="0"/>
                  <a:buChar char="o"/>
                </a:pPr>
                <a:r>
                  <a:rPr lang="en-IE" sz="1800">
                    <a:ea typeface="Calibri"/>
                    <a:cs typeface="Calibri"/>
                  </a:rPr>
                  <a:t>Atari pixels – millions of states</a:t>
                </a:r>
              </a:p>
              <a:p>
                <a:r>
                  <a:rPr lang="en-IE" sz="1800">
                    <a:ea typeface="Calibri"/>
                    <a:cs typeface="Calibri"/>
                  </a:rPr>
                  <a:t>Use value function approximator such as Deep Q-Network (DQN)</a:t>
                </a:r>
              </a:p>
              <a:p>
                <a:endParaRPr lang="en-IE" sz="180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837600-01A2-A47B-7E05-46048D469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07834" y="1799241"/>
                <a:ext cx="3764724" cy="2701102"/>
              </a:xfrm>
              <a:blipFill>
                <a:blip r:embed="rId3"/>
                <a:stretch>
                  <a:fillRect l="-3890" t="-6998" r="-5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A03E7-B2C9-72E2-B3EC-F92317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smtClean="0"/>
              <a:pPr/>
              <a:t>2</a:t>
            </a:fld>
            <a:endParaRPr lang="en-IE"/>
          </a:p>
        </p:txBody>
      </p:sp>
      <p:pic>
        <p:nvPicPr>
          <p:cNvPr id="6" name="Picture Placeholder 5" descr="A diagram of a brain&#10;&#10;AI-generated content may be incorrect.">
            <a:extLst>
              <a:ext uri="{FF2B5EF4-FFF2-40B4-BE49-F238E27FC236}">
                <a16:creationId xmlns:a16="http://schemas.microsoft.com/office/drawing/2014/main" id="{374A9393-FCA4-2E97-D387-26E36D2762C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9" r="13139"/>
          <a:stretch>
            <a:fillRect/>
          </a:stretch>
        </p:blipFill>
        <p:spPr>
          <a:xfrm>
            <a:off x="4735165" y="1099177"/>
            <a:ext cx="4205287" cy="37793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26DEB90-C7FC-64B2-5A0A-6815C7ED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86" y="270000"/>
            <a:ext cx="7500939" cy="421200"/>
          </a:xfrm>
        </p:spPr>
        <p:txBody>
          <a:bodyPr/>
          <a:lstStyle/>
          <a:p>
            <a:r>
              <a:rPr lang="en-GB">
                <a:ea typeface="Calibri"/>
                <a:cs typeface="Calibri"/>
              </a:rPr>
              <a:t>Motivation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13A4392-22F1-3117-6052-031870376D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IE">
                <a:ea typeface="Calibri"/>
                <a:cs typeface="Calibri"/>
              </a:rPr>
              <a:t>Why do we need Deep Q-Learning?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3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83ECA-19FC-090F-0F35-A94F7D2E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molecule&#10;&#10;AI-generated content may be incorrect.">
            <a:extLst>
              <a:ext uri="{FF2B5EF4-FFF2-40B4-BE49-F238E27FC236}">
                <a16:creationId xmlns:a16="http://schemas.microsoft.com/office/drawing/2014/main" id="{61E8877B-F35F-100C-2AF6-ACA61671A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200" y="2104770"/>
            <a:ext cx="4204800" cy="1755503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DF5DFE6-7A70-2E5A-B466-54F6AE5C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86" y="270000"/>
            <a:ext cx="7500939" cy="421200"/>
          </a:xfrm>
        </p:spPr>
        <p:txBody>
          <a:bodyPr anchor="b">
            <a:normAutofit/>
          </a:bodyPr>
          <a:lstStyle/>
          <a:p>
            <a:r>
              <a:rPr lang="en-GB"/>
              <a:t>Idea Behind Q-Learning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90B71F2-58F7-242A-2026-B4CCEB5F73E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2059" y="1482665"/>
                <a:ext cx="4403180" cy="2990766"/>
              </a:xfrm>
            </p:spPr>
            <p:txBody>
              <a:bodyPr vert="horz" lIns="0" tIns="0" rIns="0" bIns="0" rtlCol="0" anchor="t">
                <a:normAutofit/>
              </a:bodyPr>
              <a:lstStyle/>
              <a:p>
                <a:r>
                  <a:rPr lang="en-IE" sz="1800">
                    <a:ea typeface="Calibri"/>
                    <a:cs typeface="Calibri"/>
                  </a:rPr>
                  <a:t>Learn the value of taking action </a:t>
                </a:r>
                <a14:m>
                  <m:oMath xmlns:m="http://schemas.openxmlformats.org/officeDocument/2006/math"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𝑎</m:t>
                    </m:r>
                  </m:oMath>
                </a14:m>
                <a:r>
                  <a:rPr lang="en-IE" sz="1800">
                    <a:ea typeface="Calibri"/>
                    <a:cs typeface="Calibri"/>
                  </a:rPr>
                  <a:t> in state </a:t>
                </a:r>
                <a14:m>
                  <m:oMath xmlns:m="http://schemas.openxmlformats.org/officeDocument/2006/math"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𝑠</m:t>
                    </m:r>
                  </m:oMath>
                </a14:m>
                <a:r>
                  <a:rPr lang="en-IE" sz="1800">
                    <a:ea typeface="Calibri"/>
                    <a:cs typeface="Calibri"/>
                  </a:rPr>
                  <a:t>, </a:t>
                </a:r>
                <a14:m>
                  <m:oMath xmlns:m="http://schemas.openxmlformats.org/officeDocument/2006/math"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𝑄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𝑠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 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𝑎</m:t>
                    </m:r>
                    <m:r>
                      <a:rPr lang="en-IE" sz="18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endParaRPr lang="en-IE" sz="1800">
                  <a:ea typeface="Calibri"/>
                  <a:cs typeface="Calibri"/>
                </a:endParaRPr>
              </a:p>
              <a:p>
                <a:r>
                  <a:rPr lang="en-IE" sz="1800"/>
                  <a:t>Goal: Find the optimal action-value function</a:t>
                </a:r>
                <a:endParaRPr lang="en-IE" sz="1800">
                  <a:ea typeface="Calibri"/>
                  <a:cs typeface="Calibri"/>
                </a:endParaRPr>
              </a:p>
              <a:p>
                <a:r>
                  <a:rPr lang="en-IE" sz="1800"/>
                  <a:t>Bootstrapping: Update current estimate using future estimates</a:t>
                </a:r>
                <a:endParaRPr lang="en-IE" sz="1800">
                  <a:ea typeface="Calibri"/>
                  <a:cs typeface="Calibri"/>
                </a:endParaRPr>
              </a:p>
              <a:p>
                <a:r>
                  <a:rPr lang="en-IE" sz="1800"/>
                  <a:t>Off-Policy Control </a:t>
                </a:r>
                <a:endParaRPr lang="en-IE" sz="1800">
                  <a:ea typeface="Calibri"/>
                  <a:cs typeface="Calibri"/>
                </a:endParaRPr>
              </a:p>
              <a:p>
                <a:pPr marL="502920" lvl="1" indent="-207645">
                  <a:buFont typeface="Courier New" panose="020F0502020204030204" pitchFamily="34" charset="0"/>
                  <a:buChar char="o"/>
                </a:pPr>
                <a:r>
                  <a:rPr lang="en-IE" sz="1800">
                    <a:ea typeface="Calibri"/>
                    <a:cs typeface="Calibri"/>
                  </a:rPr>
                  <a:t>Behaviour: </a:t>
                </a:r>
                <a:r>
                  <a:rPr lang="en-IE" sz="1800" i="1">
                    <a:solidFill>
                      <a:srgbClr val="1F1F1F"/>
                    </a:solidFill>
                    <a:highlight>
                      <a:srgbClr val="FFFFFF"/>
                    </a:highlight>
                    <a:ea typeface="+mn-lt"/>
                    <a:cs typeface="+mn-lt"/>
                  </a:rPr>
                  <a:t>ε</a:t>
                </a:r>
                <a:r>
                  <a:rPr lang="en-IE" sz="1800">
                    <a:ea typeface="Calibri"/>
                    <a:cs typeface="Calibri"/>
                  </a:rPr>
                  <a:t>-greedy policy</a:t>
                </a:r>
              </a:p>
              <a:p>
                <a:pPr marL="502920" lvl="1" indent="-207645">
                  <a:buFont typeface="Courier New" panose="020F0502020204030204" pitchFamily="34" charset="0"/>
                  <a:buChar char="o"/>
                </a:pPr>
                <a:r>
                  <a:rPr lang="en-IE" sz="1800">
                    <a:ea typeface="Calibri"/>
                    <a:cs typeface="Calibri"/>
                  </a:rPr>
                  <a:t>Target: greedy policy (max </a:t>
                </a:r>
                <a:r>
                  <a:rPr lang="en-IE" sz="1800" i="1">
                    <a:ea typeface="Calibri"/>
                    <a:cs typeface="Calibri"/>
                  </a:rPr>
                  <a:t>Q</a:t>
                </a:r>
                <a:r>
                  <a:rPr lang="en-IE" sz="1800">
                    <a:ea typeface="Calibri"/>
                    <a:cs typeface="Calibri"/>
                  </a:rPr>
                  <a:t>)</a:t>
                </a:r>
              </a:p>
              <a:p>
                <a:endParaRPr lang="en-IE" sz="1800">
                  <a:ea typeface="Calibri"/>
                  <a:cs typeface="Calibri"/>
                </a:endParaRPr>
              </a:p>
              <a:p>
                <a:endParaRPr lang="en-IE" sz="180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90B71F2-58F7-242A-2026-B4CCEB5F73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2059" y="1482665"/>
                <a:ext cx="4403180" cy="2990766"/>
              </a:xfrm>
              <a:blipFill>
                <a:blip r:embed="rId4"/>
                <a:stretch>
                  <a:fillRect l="-3324" t="-2648" r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F6017-BC06-D597-E459-903BF9254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DDBE135E-2566-4748-853C-8A3B78F0FB00}" type="slidenum">
              <a:rPr lang="en-IE" smtClean="0"/>
              <a:pPr>
                <a:spcAft>
                  <a:spcPts val="600"/>
                </a:spcAft>
              </a:pPr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7157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9395-BA0F-05AC-10AA-C8135AEF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0988-CCE6-F31A-1A45-7ED3374D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86" y="270000"/>
            <a:ext cx="7500939" cy="421200"/>
          </a:xfrm>
        </p:spPr>
        <p:txBody>
          <a:bodyPr anchor="b">
            <a:normAutofit/>
          </a:bodyPr>
          <a:lstStyle/>
          <a:p>
            <a:r>
              <a:rPr lang="en-IE"/>
              <a:t>Deep Q-Learning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16">
                <a:extLst>
                  <a:ext uri="{FF2B5EF4-FFF2-40B4-BE49-F238E27FC236}">
                    <a16:creationId xmlns:a16="http://schemas.microsoft.com/office/drawing/2014/main" id="{2A300FAC-4D5C-0A6A-EDA4-6193CDA52F72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28675" y="1302191"/>
                <a:ext cx="7500938" cy="3030141"/>
              </a:xfrm>
            </p:spPr>
            <p:txBody>
              <a:bodyPr vert="horz" lIns="0" tIns="0" rIns="0" bIns="0" rtlCol="0">
                <a:normAutofit/>
              </a:bodyPr>
              <a:lstStyle/>
              <a:p>
                <a:r>
                  <a:rPr lang="en-IE"/>
                  <a:t>But how to store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b="0"/>
                  <a:t> </a:t>
                </a:r>
                <a:r>
                  <a:rPr lang="en-IE"/>
                  <a:t>for every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E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Tabulated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IE" b="0"/>
                  <a:t>? Too much to store in memory, too slow to learn for each state individually, etc.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Solution: Estimate with </a:t>
                </a:r>
                <a:r>
                  <a:rPr lang="en-IE"/>
                  <a:t>function approximation</a:t>
                </a:r>
                <a:r>
                  <a:rPr lang="en-IE" b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/>
              </a:p>
              <a:p>
                <a:r>
                  <a:rPr lang="en-IE" b="0"/>
                  <a:t>      where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E"/>
                  <a:t> </a:t>
                </a:r>
                <a:r>
                  <a:rPr lang="en-IE" b="0"/>
                  <a:t>are the parameters of a </a:t>
                </a:r>
                <a:r>
                  <a:rPr lang="en-IE"/>
                  <a:t>neural network</a:t>
                </a:r>
              </a:p>
            </p:txBody>
          </p:sp>
        </mc:Choice>
        <mc:Fallback xmlns="">
          <p:sp>
            <p:nvSpPr>
              <p:cNvPr id="12" name="Text Placeholder 16">
                <a:extLst>
                  <a:ext uri="{FF2B5EF4-FFF2-40B4-BE49-F238E27FC236}">
                    <a16:creationId xmlns:a16="http://schemas.microsoft.com/office/drawing/2014/main" id="{2A300FAC-4D5C-0A6A-EDA4-6193CDA52F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28675" y="1302191"/>
                <a:ext cx="7500938" cy="3030141"/>
              </a:xfrm>
              <a:blipFill>
                <a:blip r:embed="rId2"/>
                <a:stretch>
                  <a:fillRect l="-2114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08AA-31A8-ACE4-DEBD-015C36CAB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DDBE135E-2566-4748-853C-8A3B78F0FB00}" type="slidenum">
              <a:rPr lang="en-IE" smtClean="0"/>
              <a:pPr>
                <a:spcAft>
                  <a:spcPts val="600"/>
                </a:spcAft>
              </a:pPr>
              <a:t>4</a:t>
            </a:fld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ABE0E-73FA-BA66-1CA9-D8CB35EAF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966" y="3834852"/>
            <a:ext cx="5698067" cy="994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03EF00-1815-7868-FE23-7764E01EDBAB}"/>
              </a:ext>
            </a:extLst>
          </p:cNvPr>
          <p:cNvSpPr txBox="1"/>
          <p:nvPr/>
        </p:nvSpPr>
        <p:spPr>
          <a:xfrm>
            <a:off x="7475387" y="4638744"/>
            <a:ext cx="16018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Calibri"/>
                <a:cs typeface="Calibri"/>
              </a:rPr>
              <a:t>[1] 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ea typeface="Calibri"/>
                <a:cs typeface="Calibri"/>
              </a:rPr>
              <a:t>Meng, Li, et al.</a:t>
            </a:r>
            <a:endParaRPr lang="en-US" sz="1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6580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E117-12E9-8674-D36D-D4E861FD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Deep Q-Learning Idea</a:t>
            </a:r>
            <a:endParaRPr lang="en-I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CC31E7-88EE-1271-F7F0-8B905B10E92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358747" y="1274432"/>
                <a:ext cx="8703574" cy="3483616"/>
              </a:xfrm>
            </p:spPr>
            <p:txBody>
              <a:bodyPr/>
              <a:lstStyle/>
              <a:p>
                <a:r>
                  <a:rPr lang="en-IE" b="0"/>
                  <a:t>For example, our Pong agent…</a:t>
                </a:r>
              </a:p>
              <a:p>
                <a:r>
                  <a:rPr lang="en-IE" b="0"/>
                  <a:t>Input:</a:t>
                </a:r>
              </a:p>
              <a:p>
                <a:r>
                  <a:rPr lang="en-IE" b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255</m:t>
                        </m:r>
                      </m:den>
                    </m:f>
                    <m:r>
                      <a:rPr lang="en-I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0, 1</m:t>
                            </m:r>
                          </m:e>
                        </m:d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4×84×84</m:t>
                        </m:r>
                      </m:sup>
                    </m:sSup>
                  </m:oMath>
                </a14:m>
                <a:endParaRPr lang="en-IE" b="0"/>
              </a:p>
              <a:p>
                <a:r>
                  <a:rPr lang="en-IE" b="0"/>
                  <a:t>Output:</a:t>
                </a:r>
              </a:p>
              <a:p>
                <a:r>
                  <a:rPr lang="en-IE" b="0"/>
                  <a:t>	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I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I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</m:d>
                      </m:sup>
                    </m:sSup>
                  </m:oMath>
                </a14:m>
                <a:endParaRPr lang="en-IE" b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E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I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IE" b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E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E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E" sz="1800" b="0"/>
                  <a:t> NOOP,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8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E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E" sz="1800" b="0"/>
                  <a:t> FIRE,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8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E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E" sz="18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E" sz="1800" b="0"/>
                  <a:t> RIGHT,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8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E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E" sz="18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E" sz="1800" b="0"/>
                  <a:t> LEFT,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8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E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E" sz="18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E" sz="1800" b="0"/>
                  <a:t> RIGHTFIRE,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8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E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E" sz="18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E" sz="1800" b="0"/>
                  <a:t> LEFTFIRE </a:t>
                </a:r>
              </a:p>
              <a:p>
                <a:endParaRPr lang="en-IE" b="0"/>
              </a:p>
              <a:p>
                <a:endParaRPr lang="en-IE" b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CC31E7-88EE-1271-F7F0-8B905B10E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358747" y="1274432"/>
                <a:ext cx="8703574" cy="3483616"/>
              </a:xfrm>
              <a:blipFill>
                <a:blip r:embed="rId2"/>
                <a:stretch>
                  <a:fillRect l="-1821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E2EC5-47C9-7D23-1464-B9B3B67C65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E"/>
              <a:t>Input and Output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1F943-A754-3049-528D-3AD4BEA47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5</a:t>
            </a:fld>
            <a:endParaRPr lang="en-IE" noProof="0"/>
          </a:p>
        </p:txBody>
      </p:sp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11FC460-8277-4D3A-03EE-14E4C6F5A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34" y="1629797"/>
            <a:ext cx="4329250" cy="2636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D396F7-4AC8-310A-6D51-2AD597C9BD28}"/>
                  </a:ext>
                </a:extLst>
              </p:cNvPr>
              <p:cNvSpPr txBox="1"/>
              <p:nvPr/>
            </p:nvSpPr>
            <p:spPr>
              <a:xfrm>
                <a:off x="4515244" y="2036904"/>
                <a:ext cx="2424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E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D396F7-4AC8-310A-6D51-2AD597C9B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244" y="2036904"/>
                <a:ext cx="242439" cy="276999"/>
              </a:xfrm>
              <a:prstGeom prst="rect">
                <a:avLst/>
              </a:prstGeom>
              <a:blipFill>
                <a:blip r:embed="rId4"/>
                <a:stretch>
                  <a:fillRect l="-15385" r="-51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797D57-EDC6-6603-B85C-C660E26D92FB}"/>
                  </a:ext>
                </a:extLst>
              </p:cNvPr>
              <p:cNvSpPr txBox="1"/>
              <p:nvPr/>
            </p:nvSpPr>
            <p:spPr>
              <a:xfrm>
                <a:off x="4340975" y="3497842"/>
                <a:ext cx="4620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E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797D57-EDC6-6603-B85C-C660E26D9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975" y="3497842"/>
                <a:ext cx="462050" cy="276999"/>
              </a:xfrm>
              <a:prstGeom prst="rect">
                <a:avLst/>
              </a:prstGeom>
              <a:blipFill>
                <a:blip r:embed="rId5"/>
                <a:stretch>
                  <a:fillRect l="-6579" r="-394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9836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0CA3-3C11-C7B8-5413-AA0CBD6E7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CFED-B89F-C341-DF5D-2A219C3C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Training DQNs - DQN Techniques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6F197F-745B-7CB5-E6AA-F7F396EF878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38575" y="1343755"/>
                <a:ext cx="7500938" cy="3030141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Store transition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b="0"/>
                  <a:t> in replay memory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IE" b="0">
                  <a:ea typeface="Cambria Math" panose="02040503050406030204" pitchFamily="18" charset="0"/>
                </a:endParaRPr>
              </a:p>
              <a:p>
                <a:pPr marL="6604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IE" b="0"/>
                  <a:t> can be seen as a conventional supervised learning dataset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Sample random mini-batch of transitions from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IE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E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Without this, we violate the </a:t>
                </a:r>
                <a:r>
                  <a:rPr lang="en-IE" b="0" err="1"/>
                  <a:t>i.i.d</a:t>
                </a:r>
                <a:r>
                  <a:rPr lang="en-IE" b="0"/>
                  <a:t> assumption of SGD</a:t>
                </a:r>
              </a:p>
              <a:p>
                <a:pPr marL="660400" lvl="1" indent="-342900">
                  <a:buFont typeface="Arial" panose="020B0604020202020204" pitchFamily="34" charset="0"/>
                  <a:buChar char="•"/>
                </a:pPr>
                <a:r>
                  <a:rPr lang="en-IE"/>
                  <a:t>Consecutive transitions are highly correlated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Stabilises the training process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6F197F-745B-7CB5-E6AA-F7F396EF8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38575" y="1343755"/>
                <a:ext cx="7500938" cy="3030141"/>
              </a:xfrm>
              <a:blipFill>
                <a:blip r:embed="rId2"/>
                <a:stretch>
                  <a:fillRect l="-1950" t="-2610" b="-8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0AF28-0887-9C85-E1D1-48C690E0FC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E"/>
              <a:t>Experience Replay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FAEFD-CEBD-CA68-A332-DF87F8FA5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6</a:t>
            </a:fld>
            <a:endParaRPr lang="en-IE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6CA67-3C66-4DAB-CC8C-11935166D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72" y="2733200"/>
            <a:ext cx="6918913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7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B13E-B23A-4C71-A638-A7ED1281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Training DQNs - DQN Techniques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6202A5-0CD4-6760-F088-F4A7B0A1E9B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38575" y="1343755"/>
                <a:ext cx="7500938" cy="3030141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Given a mini-batch of transitions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IE" b="0"/>
                  <a:t> at iteration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E" b="0"/>
                  <a:t>, we are trying to optimise: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func>
                                    <m:funcPr>
                                      <m:ctrlP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E" b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𝑄</m:t>
                                      </m:r>
                                      <m: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sSubSup>
                                        <m:sSubSupPr>
                                          <m:ctrlP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E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bSup>
                                      <m: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IE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E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E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E" b="0"/>
                  <a:t>We have two networks parameterised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IE" b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E" b="0"/>
              </a:p>
              <a:p>
                <a:pPr marL="660400" lvl="1" indent="-342900">
                  <a:buFont typeface="Arial" panose="020B0604020202020204" pitchFamily="34" charset="0"/>
                  <a:buChar char="•"/>
                </a:pPr>
                <a:r>
                  <a:rPr lang="en-IE">
                    <a:ea typeface="Cambria Math" panose="02040503050406030204" pitchFamily="18" charset="0"/>
                  </a:rPr>
                  <a:t>Target model’s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IE" b="0"/>
                  <a:t> ‘frozen’ for sum fixed number of iterations</a:t>
                </a:r>
              </a:p>
              <a:p>
                <a:endParaRPr lang="en-IE" b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6202A5-0CD4-6760-F088-F4A7B0A1E9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38575" y="1343755"/>
                <a:ext cx="7500938" cy="3030141"/>
              </a:xfrm>
              <a:blipFill>
                <a:blip r:embed="rId2"/>
                <a:stretch>
                  <a:fillRect l="-1950" t="-2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B8890-EC19-5317-54E9-27C284758A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E"/>
              <a:t>Fixed Q-Targets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39CB6-F192-C92D-050D-363190B9E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7</a:t>
            </a:fld>
            <a:endParaRPr lang="en-IE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766593-F42B-4258-5310-3C3029ED4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83" y="3809848"/>
            <a:ext cx="4265046" cy="158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44322-DCD5-6901-32FC-C5F5107CF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83" y="3968019"/>
            <a:ext cx="1900538" cy="135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DBDAD9-F78B-0E9B-129B-DE32DDAE2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408" y="3713810"/>
            <a:ext cx="3743171" cy="311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E92A3B-58D1-8FB6-73CC-F54A76855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3945" y="4044001"/>
            <a:ext cx="3830829" cy="3111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9D90A8-C8C6-321F-4AE2-DD4DE9AAB0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0879" y="4432089"/>
            <a:ext cx="2947854" cy="37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7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4A61-E1E3-00C0-9BD3-1D1BC80E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06" y="248730"/>
            <a:ext cx="7500939" cy="421200"/>
          </a:xfrm>
        </p:spPr>
        <p:txBody>
          <a:bodyPr/>
          <a:lstStyle/>
          <a:p>
            <a:r>
              <a:rPr lang="en-IE"/>
              <a:t>Training DQNs</a:t>
            </a:r>
            <a:endParaRPr lang="en-IE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25814-8686-FA66-21F7-AA478680F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IE"/>
          </a:p>
          <a:p>
            <a:endParaRPr lang="en-IE">
              <a:ea typeface="Calibri"/>
              <a:cs typeface="Calibri"/>
            </a:endParaRPr>
          </a:p>
          <a:p>
            <a:endParaRPr lang="en-IE">
              <a:ea typeface="Calibri"/>
              <a:cs typeface="Calibri"/>
            </a:endParaRPr>
          </a:p>
          <a:p>
            <a:endParaRPr lang="en-IE">
              <a:ea typeface="Calibri"/>
              <a:cs typeface="Calibri"/>
            </a:endParaRPr>
          </a:p>
          <a:p>
            <a:endParaRPr lang="en-IE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AD890-FA79-95C7-11CB-301CC360F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8</a:t>
            </a:fld>
            <a:endParaRPr lang="en-IE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D164A-FDE7-005B-F881-581BEDBB6BCE}"/>
              </a:ext>
            </a:extLst>
          </p:cNvPr>
          <p:cNvSpPr txBox="1"/>
          <p:nvPr/>
        </p:nvSpPr>
        <p:spPr>
          <a:xfrm>
            <a:off x="823434" y="1172022"/>
            <a:ext cx="549567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Training the target comes from </a:t>
            </a:r>
            <a:r>
              <a:rPr lang="en-GB" b="1">
                <a:ea typeface="Calibri"/>
                <a:cs typeface="Calibri"/>
              </a:rPr>
              <a:t>Q-learning</a:t>
            </a:r>
            <a:r>
              <a:rPr lang="en-GB">
                <a:ea typeface="Calibri"/>
                <a:cs typeface="Calibri"/>
              </a:rPr>
              <a:t>. The loss is the difference between Q-value (Q) and target value (Q').</a:t>
            </a:r>
            <a:endParaRPr lang="en-US"/>
          </a:p>
          <a:p>
            <a:endParaRPr lang="en-GB"/>
          </a:p>
          <a:p>
            <a:r>
              <a:rPr lang="en-GB" b="1">
                <a:ea typeface="Calibri"/>
                <a:cs typeface="Calibri"/>
              </a:rPr>
              <a:t>Target function</a:t>
            </a:r>
            <a:r>
              <a:rPr lang="en-GB">
                <a:ea typeface="Calibri"/>
                <a:cs typeface="Calibri"/>
              </a:rPr>
              <a:t>: </a:t>
            </a: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  <a:p>
            <a:r>
              <a:rPr lang="en-GB" b="1">
                <a:ea typeface="Calibri"/>
                <a:cs typeface="Calibri"/>
              </a:rPr>
              <a:t>Loss function</a:t>
            </a:r>
            <a:r>
              <a:rPr lang="en-GB">
                <a:ea typeface="Calibri"/>
                <a:cs typeface="Calibri"/>
              </a:rPr>
              <a:t>: </a:t>
            </a: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  <a:p>
            <a:r>
              <a:rPr lang="en-GB">
                <a:ea typeface="Calibri"/>
                <a:cs typeface="Calibri"/>
              </a:rPr>
              <a:t>The Neural Network is trained to </a:t>
            </a:r>
            <a:r>
              <a:rPr lang="en-GB" b="1">
                <a:ea typeface="Calibri"/>
                <a:cs typeface="Calibri"/>
              </a:rPr>
              <a:t>minimise the error</a:t>
            </a:r>
            <a:r>
              <a:rPr lang="en-GB">
                <a:ea typeface="Calibri"/>
                <a:cs typeface="Calibri"/>
              </a:rPr>
              <a:t> using gradient descent. </a:t>
            </a: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AA20109-5F69-8484-7A12-F5F5A644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75" y="2251875"/>
            <a:ext cx="2622450" cy="635250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403A2A7-F144-B4D6-19CB-EF34CE011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775" y="3196875"/>
            <a:ext cx="2541450" cy="590250"/>
          </a:xfrm>
          <a:prstGeom prst="rect">
            <a:avLst/>
          </a:prstGeom>
        </p:spPr>
      </p:pic>
      <p:pic>
        <p:nvPicPr>
          <p:cNvPr id="9" name="Picture 8" descr="Introduction to Deep Q-Learning">
            <a:extLst>
              <a:ext uri="{FF2B5EF4-FFF2-40B4-BE49-F238E27FC236}">
                <a16:creationId xmlns:a16="http://schemas.microsoft.com/office/drawing/2014/main" id="{76463F59-9C2D-7FD5-A27A-57C622F34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400" y="1748179"/>
            <a:ext cx="2743200" cy="227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6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D86A-8B13-2E17-2C2D-9146C4CB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Training Loss for Pong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24F2C-E190-90AE-2C74-4744A3627A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Calibri"/>
                <a:cs typeface="Calibri"/>
              </a:rPr>
              <a:t>Spikes Illustrate Target Model Update 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4878F-AEE1-C1E6-5471-7C9AFAE60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9</a:t>
            </a:fld>
            <a:endParaRPr lang="en-IE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BA034A-53A9-8657-B528-4F6A4ADFB8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35" b="35049"/>
          <a:stretch>
            <a:fillRect/>
          </a:stretch>
        </p:blipFill>
        <p:spPr>
          <a:xfrm>
            <a:off x="1302684" y="1241363"/>
            <a:ext cx="5715000" cy="3086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72727E-9BE9-7DD4-2D84-7876760823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70" t="93055"/>
          <a:stretch>
            <a:fillRect/>
          </a:stretch>
        </p:blipFill>
        <p:spPr>
          <a:xfrm>
            <a:off x="1815353" y="4220775"/>
            <a:ext cx="5202337" cy="35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70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Thank You</a:t>
            </a:r>
          </a:p>
        </p:txBody>
      </p:sp>
      <p:pic>
        <p:nvPicPr>
          <p:cNvPr id="4" name="Picture 3" descr="A brown rectangular object with green squares&#10;&#10;AI-generated content may be incorrect.">
            <a:extLst>
              <a:ext uri="{FF2B5EF4-FFF2-40B4-BE49-F238E27FC236}">
                <a16:creationId xmlns:a16="http://schemas.microsoft.com/office/drawing/2014/main" id="{E678C7A1-B207-B933-281D-7E25796F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662" y="1474975"/>
            <a:ext cx="5422920" cy="303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6BCF-2ADC-FE0E-2AD5-EF3898BC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References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ED7A-8CB8-662E-B345-7443771853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286952"/>
            <a:ext cx="7500938" cy="2891980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en-US" sz="1000" b="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Meng, Li, et al. "Deep reinforcement learning with swin transformers." </a:t>
            </a:r>
            <a:r>
              <a:rPr lang="en-US" sz="1000" b="0" i="1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Proceedings of the 2024 8th international conference on digital signal processing</a:t>
            </a:r>
            <a:r>
              <a:rPr lang="en-US" sz="1000" b="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. 2024.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Volodymyr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Mnih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, Koray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Kavukcuoglu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David Silver, Alex Graves, Ioannis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Antonoglou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Daan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Wierstra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Martin Riedmiller. "Playing Atari with Deep Reinforcement Learning." (2013).</a:t>
            </a:r>
            <a:endParaRPr lang="en-US" sz="1000" b="0">
              <a:solidFill>
                <a:srgbClr val="222222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9E45C-8CD9-5079-5169-556405D30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11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1481953995"/>
      </p:ext>
    </p:extLst>
  </p:cSld>
  <p:clrMapOvr>
    <a:masterClrMapping/>
  </p:clrMapOvr>
</p:sld>
</file>

<file path=ppt/theme/theme1.xml><?xml version="1.0" encoding="utf-8"?>
<a:theme xmlns:a="http://schemas.openxmlformats.org/drawingml/2006/main" name="TCD_PPT_Calibri_Option1a">
  <a:themeElements>
    <a:clrScheme name="0569B9">
      <a:dk1>
        <a:srgbClr val="000000"/>
      </a:dk1>
      <a:lt1>
        <a:srgbClr val="FFFFFF"/>
      </a:lt1>
      <a:dk2>
        <a:srgbClr val="0569B9"/>
      </a:dk2>
      <a:lt2>
        <a:srgbClr val="FFFFFF"/>
      </a:lt2>
      <a:accent1>
        <a:srgbClr val="0569B9"/>
      </a:accent1>
      <a:accent2>
        <a:srgbClr val="0569B9"/>
      </a:accent2>
      <a:accent3>
        <a:srgbClr val="505559"/>
      </a:accent3>
      <a:accent4>
        <a:srgbClr val="7C8083"/>
      </a:accent4>
      <a:accent5>
        <a:srgbClr val="0569B9"/>
      </a:accent5>
      <a:accent6>
        <a:srgbClr val="0569B9"/>
      </a:accent6>
      <a:hlink>
        <a:srgbClr val="000000"/>
      </a:hlink>
      <a:folHlink>
        <a:srgbClr val="000000"/>
      </a:folHlink>
    </a:clrScheme>
    <a:fontScheme name="Trinity Colleg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456fd4-601e-47ca-b3bb-cce94d91aa6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8A036B1212D48B2F81DDCEAB883AB" ma:contentTypeVersion="6" ma:contentTypeDescription="Create a new document." ma:contentTypeScope="" ma:versionID="5f01a0baa505cd84eab5cbfac1ddf4a1">
  <xsd:schema xmlns:xsd="http://www.w3.org/2001/XMLSchema" xmlns:xs="http://www.w3.org/2001/XMLSchema" xmlns:p="http://schemas.microsoft.com/office/2006/metadata/properties" xmlns:ns3="1e456fd4-601e-47ca-b3bb-cce94d91aa65" targetNamespace="http://schemas.microsoft.com/office/2006/metadata/properties" ma:root="true" ma:fieldsID="601002e7284f60eca39736692da27308" ns3:_="">
    <xsd:import namespace="1e456fd4-601e-47ca-b3bb-cce94d91aa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456fd4-601e-47ca-b3bb-cce94d91aa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31CCE2-71AE-44D3-966A-CCF20D6D5F76}">
  <ds:schemaRefs>
    <ds:schemaRef ds:uri="1e456fd4-601e-47ca-b3bb-cce94d91aa6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84655A3-6367-425D-8AD3-97F91DB5091A}">
  <ds:schemaRefs>
    <ds:schemaRef ds:uri="1e456fd4-601e-47ca-b3bb-cce94d91aa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1621717-8B55-4A5E-B7D1-F4E1A94A05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TCD_PPT_Calibri_Option1a.potx</Template>
  <Application>Microsoft Office PowerPoint</Application>
  <PresentationFormat>On-screen Show (16:9)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TCD_PPT_Calibri_Option1a</vt:lpstr>
      <vt:lpstr>EEP55C34 Advanced AI</vt:lpstr>
      <vt:lpstr>Motivation</vt:lpstr>
      <vt:lpstr>Idea Behind Q-Learning</vt:lpstr>
      <vt:lpstr>Deep Q-Learning Idea</vt:lpstr>
      <vt:lpstr>Deep Q-Learning Idea</vt:lpstr>
      <vt:lpstr>Training DQNs - DQN Techniques</vt:lpstr>
      <vt:lpstr>Training DQNs - DQN Techniques</vt:lpstr>
      <vt:lpstr>Training DQNs</vt:lpstr>
      <vt:lpstr>Training Loss for Pong</vt:lpstr>
      <vt:lpstr>Thank You</vt:lpstr>
      <vt:lpstr>References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dtpgraphics</dc:creator>
  <cp:revision>2</cp:revision>
  <cp:lastPrinted>2014-12-16T10:33:11Z</cp:lastPrinted>
  <dcterms:created xsi:type="dcterms:W3CDTF">2013-07-29T09:34:50Z</dcterms:created>
  <dcterms:modified xsi:type="dcterms:W3CDTF">2026-04-09T10:26:36Z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0x0101006268A036B1212D48B2F81DDCEAB883AB</vt:lpwstr>
  </property>
</Properties>
</file>