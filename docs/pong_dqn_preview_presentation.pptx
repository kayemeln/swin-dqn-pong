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6" r:id="rId5"/>
    <p:sldId id="263" r:id="rId6"/>
    <p:sldId id="270" r:id="rId7"/>
    <p:sldId id="265" r:id="rId8"/>
    <p:sldId id="264" r:id="rId9"/>
    <p:sldId id="258" r:id="rId10"/>
    <p:sldId id="266" r:id="rId11"/>
    <p:sldId id="267" r:id="rId12"/>
    <p:sldId id="269" r:id="rId13"/>
    <p:sldId id="271" r:id="rId14"/>
    <p:sldId id="260" r:id="rId15"/>
    <p:sldId id="272" r:id="rId16"/>
  </p:sldIdLst>
  <p:sldSz cx="9144000" cy="5143500" type="screen16x9"/>
  <p:notesSz cx="6858000" cy="99472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39">
          <p15:clr>
            <a:srgbClr val="A4A3A4"/>
          </p15:clr>
        </p15:guide>
        <p15:guide id="2" pos="5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3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73B9"/>
    <a:srgbClr val="3E6D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E15317-8B72-A7BF-3EE4-277C2BD79180}" v="2" dt="2026-03-31T20:27:58.8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239"/>
        <p:guide pos="519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33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7971" y="4724956"/>
            <a:ext cx="4908331" cy="447627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22876" y="9449911"/>
            <a:ext cx="835124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n-lt"/>
                <a:cs typeface="Arial" panose="020B0604020202020204" pitchFamily="34" charset="0"/>
              </a:defRPr>
            </a:lvl1pPr>
          </a:lstStyle>
          <a:p>
            <a:fld id="{49DD4D23-C98A-435E-AE88-9061F8349B0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0033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>
                <a:ea typeface="Calibri"/>
                <a:cs typeface="Calibri"/>
              </a:rPr>
              <a:t>Unsupervised learning, no need for big datasets, agent learns from interacting with the environment, receiving rewards – trial and error learning</a:t>
            </a:r>
            <a:endParaRPr lang="en-IE">
              <a:cs typeface="Calibri"/>
            </a:endParaRPr>
          </a:p>
          <a:p>
            <a:r>
              <a:rPr lang="en-IE">
                <a:cs typeface="Calibri"/>
              </a:rPr>
              <a:t>RL – the environment is initially unknown, the agent interacts with the environment, the agent improves its policy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DD4D23-C98A-435E-AE88-9061F8349B02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930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335CB-A8D9-1D05-BDCB-64FFF2E1C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B35C56-8F9C-78F0-32E9-E949D830F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7DB141-A5C1-973E-018D-BAC6B93E58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>
                <a:ea typeface="Calibri"/>
                <a:cs typeface="Calibri"/>
              </a:rPr>
              <a:t>Unsupervised learning, no need for big datasets, agent learns from interacting with the environment, receiving rewards – trial and error learning</a:t>
            </a:r>
            <a:endParaRPr lang="en-IE">
              <a:cs typeface="Calibri"/>
            </a:endParaRPr>
          </a:p>
          <a:p>
            <a:r>
              <a:rPr lang="en-IE">
                <a:cs typeface="Calibri"/>
              </a:rPr>
              <a:t>RL – the environment is initially unknown, the agent interacts with the environment, the agent improves its policy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B8B9A-8815-F0D6-5730-1362424B9C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DD4D23-C98A-435E-AE88-9061F8349B02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8197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8686" y="2786400"/>
            <a:ext cx="7500939" cy="416138"/>
          </a:xfrm>
        </p:spPr>
        <p:txBody>
          <a:bodyPr/>
          <a:lstStyle>
            <a:lvl1pPr algn="l"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IE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8675" y="3217050"/>
            <a:ext cx="7500938" cy="271350"/>
          </a:xfrm>
        </p:spPr>
        <p:txBody>
          <a:bodyPr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IE" noProof="0"/>
              <a:t>Click to edit Master subtitle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28688" y="4111318"/>
            <a:ext cx="4679325" cy="734531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2pPr>
            <a:lvl3pPr marL="0" indent="0">
              <a:spcBef>
                <a:spcPts val="567"/>
              </a:spcBef>
              <a:buNone/>
              <a:defRPr sz="14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IE" noProof="0"/>
              <a:t>Click to edit Master text styles</a:t>
            </a:r>
          </a:p>
          <a:p>
            <a:pPr lvl="1"/>
            <a:r>
              <a:rPr lang="en-IE" noProof="0"/>
              <a:t>Second level</a:t>
            </a:r>
          </a:p>
          <a:p>
            <a:pPr lvl="2"/>
            <a:r>
              <a:rPr lang="en-IE" noProof="0"/>
              <a:t>Third level</a:t>
            </a:r>
          </a:p>
        </p:txBody>
      </p:sp>
      <p:pic>
        <p:nvPicPr>
          <p:cNvPr id="10" name="Picture 9" descr="Trinity College Dubli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477" y="381655"/>
            <a:ext cx="3039743" cy="819370"/>
          </a:xfrm>
          <a:prstGeom prst="rect">
            <a:avLst/>
          </a:prstGeom>
        </p:spPr>
      </p:pic>
      <p:pic>
        <p:nvPicPr>
          <p:cNvPr id="155" name="Graphic 154">
            <a:extLst>
              <a:ext uri="{FF2B5EF4-FFF2-40B4-BE49-F238E27FC236}">
                <a16:creationId xmlns:a16="http://schemas.microsoft.com/office/drawing/2014/main" id="{D207F4AF-8BD7-37FD-EC60-1346BBE90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36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407" t="3474" r="80408" b="-2060"/>
          <a:stretch/>
        </p:blipFill>
        <p:spPr>
          <a:xfrm>
            <a:off x="5018567" y="1"/>
            <a:ext cx="412543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279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2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828675" y="1302191"/>
            <a:ext cx="7500938" cy="3030141"/>
          </a:xfrm>
        </p:spPr>
        <p:txBody>
          <a:bodyPr/>
          <a:lstStyle/>
          <a:p>
            <a:pPr lvl="0"/>
            <a:r>
              <a:rPr lang="en-IE" noProof="0"/>
              <a:t>Click to edit Master text styles</a:t>
            </a:r>
          </a:p>
          <a:p>
            <a:pPr lvl="1"/>
            <a:r>
              <a:rPr lang="en-IE" noProof="0"/>
              <a:t>Second level</a:t>
            </a:r>
          </a:p>
          <a:p>
            <a:pPr lvl="2"/>
            <a:r>
              <a:rPr lang="en-IE" noProof="0"/>
              <a:t>Third level</a:t>
            </a:r>
          </a:p>
          <a:p>
            <a:pPr lvl="3"/>
            <a:r>
              <a:rPr lang="en-IE" noProof="0"/>
              <a:t>Fourth level</a:t>
            </a:r>
          </a:p>
          <a:p>
            <a:pPr lvl="4"/>
            <a:r>
              <a:rPr lang="en-IE" noProof="0"/>
              <a:t>Fifth level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28675" y="685806"/>
            <a:ext cx="7500938" cy="207169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IE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61A7A-40F1-0B45-8A82-94DCCA5E74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39513" y="4881249"/>
            <a:ext cx="290100" cy="19186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DDBE135E-2566-4748-853C-8A3B78F0FB00}" type="slidenum">
              <a:rPr lang="en-IE" noProof="0" smtClean="0"/>
              <a:pPr/>
              <a:t>‹#›</a:t>
            </a:fld>
            <a:endParaRPr lang="en-IE" noProof="0"/>
          </a:p>
        </p:txBody>
      </p:sp>
    </p:spTree>
    <p:extLst>
      <p:ext uri="{BB962C8B-B14F-4D97-AF65-F5344CB8AC3E}">
        <p14:creationId xmlns:p14="http://schemas.microsoft.com/office/powerpoint/2010/main" val="3573000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2 Column Content 2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4545078"/>
            <a:ext cx="9144000" cy="597231"/>
          </a:xfrm>
          <a:prstGeom prst="rect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727075" indent="0" algn="l"/>
            <a:endParaRPr lang="en-GB" sz="1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noProof="0"/>
              <a:t>Click to edit Master title style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28675" y="685806"/>
            <a:ext cx="7500938" cy="207169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IE" noProof="0"/>
              <a:t>Click to edit Master text styles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1078706"/>
            <a:ext cx="9144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828675" y="1302192"/>
            <a:ext cx="7500938" cy="2891980"/>
          </a:xfrm>
        </p:spPr>
        <p:txBody>
          <a:bodyPr/>
          <a:lstStyle/>
          <a:p>
            <a:pPr lvl="0"/>
            <a:r>
              <a:rPr lang="en-IE" noProof="0"/>
              <a:t>Click to edit Master text styles</a:t>
            </a:r>
          </a:p>
          <a:p>
            <a:pPr lvl="1"/>
            <a:r>
              <a:rPr lang="en-IE" noProof="0"/>
              <a:t>Second level</a:t>
            </a:r>
          </a:p>
          <a:p>
            <a:pPr lvl="2"/>
            <a:r>
              <a:rPr lang="en-IE" noProof="0"/>
              <a:t>Third level</a:t>
            </a:r>
          </a:p>
          <a:p>
            <a:pPr lvl="3"/>
            <a:r>
              <a:rPr lang="en-IE" noProof="0"/>
              <a:t>Fourth level</a:t>
            </a:r>
          </a:p>
          <a:p>
            <a:pPr lvl="4"/>
            <a:r>
              <a:rPr lang="en-IE" noProof="0"/>
              <a:t>Fifth level</a:t>
            </a:r>
          </a:p>
        </p:txBody>
      </p:sp>
      <p:pic>
        <p:nvPicPr>
          <p:cNvPr id="11" name="Picture 10" descr="TCD_White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478" y="4642666"/>
            <a:ext cx="1585894" cy="427482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1145CB8-4673-6A47-9176-F0CB307373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39513" y="4881249"/>
            <a:ext cx="290100" cy="19186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DDBE135E-2566-4748-853C-8A3B78F0FB00}" type="slidenum">
              <a:rPr lang="en-IE" noProof="0" smtClean="0"/>
              <a:pPr/>
              <a:t>‹#›</a:t>
            </a:fld>
            <a:endParaRPr lang="en-IE" noProof="0"/>
          </a:p>
        </p:txBody>
      </p:sp>
    </p:spTree>
    <p:extLst>
      <p:ext uri="{BB962C8B-B14F-4D97-AF65-F5344CB8AC3E}">
        <p14:creationId xmlns:p14="http://schemas.microsoft.com/office/powerpoint/2010/main" val="4209210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&amp; 2 Column Content 2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828676" y="1410807"/>
            <a:ext cx="3933824" cy="2372524"/>
          </a:xfrm>
        </p:spPr>
        <p:txBody>
          <a:bodyPr/>
          <a:lstStyle>
            <a:lvl1pPr marL="276225" indent="-276225">
              <a:spcBef>
                <a:spcPts val="900"/>
              </a:spcBef>
              <a:buClr>
                <a:schemeClr val="tx2"/>
              </a:buClr>
              <a:buFont typeface="Arial" panose="020B0604020202020204" pitchFamily="34" charset="0"/>
              <a:buChar char="‒"/>
              <a:defRPr sz="1600" b="0"/>
            </a:lvl1pPr>
            <a:lvl2pPr marL="625475" indent="-233363">
              <a:buFont typeface="Arial" panose="020B0604020202020204" pitchFamily="34" charset="0"/>
              <a:buChar char="•"/>
              <a:defRPr sz="1600"/>
            </a:lvl2pPr>
            <a:lvl3pPr marL="912813" indent="-222250">
              <a:defRPr sz="1600"/>
            </a:lvl3pPr>
            <a:lvl4pPr marL="1128713" indent="-190500">
              <a:defRPr sz="1600"/>
            </a:lvl4pPr>
            <a:lvl5pPr marL="1439863" indent="-185738">
              <a:defRPr sz="1600"/>
            </a:lvl5pPr>
          </a:lstStyle>
          <a:p>
            <a:pPr lvl="0"/>
            <a:r>
              <a:rPr lang="en-IE" noProof="0"/>
              <a:t>Click to edit Master text styles</a:t>
            </a:r>
          </a:p>
          <a:p>
            <a:pPr lvl="1"/>
            <a:r>
              <a:rPr lang="en-IE" noProof="0"/>
              <a:t>Second level</a:t>
            </a:r>
          </a:p>
          <a:p>
            <a:pPr lvl="2"/>
            <a:r>
              <a:rPr lang="en-IE" noProof="0"/>
              <a:t>Third level</a:t>
            </a:r>
          </a:p>
          <a:p>
            <a:pPr lvl="3"/>
            <a:r>
              <a:rPr lang="en-IE" noProof="0"/>
              <a:t>Fourth level</a:t>
            </a:r>
          </a:p>
          <a:p>
            <a:pPr lvl="4"/>
            <a:r>
              <a:rPr lang="en-IE" noProof="0"/>
              <a:t>Fifth level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28675" y="685806"/>
            <a:ext cx="7500938" cy="207169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IE" noProof="0"/>
              <a:t>Click to edit Master text styles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1078706"/>
            <a:ext cx="9144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914901" y="1410807"/>
            <a:ext cx="3934800" cy="2372524"/>
          </a:xfrm>
        </p:spPr>
        <p:txBody>
          <a:bodyPr/>
          <a:lstStyle>
            <a:lvl1pPr marL="276225" indent="-276225">
              <a:spcBef>
                <a:spcPts val="900"/>
              </a:spcBef>
              <a:buClr>
                <a:schemeClr val="tx2"/>
              </a:buClr>
              <a:buFont typeface="Arial" panose="020B0604020202020204" pitchFamily="34" charset="0"/>
              <a:buChar char="‒"/>
              <a:defRPr sz="1600" b="0"/>
            </a:lvl1pPr>
            <a:lvl2pPr marL="625475" indent="-233363">
              <a:buFont typeface="Arial" panose="020B0604020202020204" pitchFamily="34" charset="0"/>
              <a:buChar char="•"/>
              <a:defRPr sz="1600"/>
            </a:lvl2pPr>
            <a:lvl3pPr marL="912813" indent="-222250">
              <a:defRPr sz="1600"/>
            </a:lvl3pPr>
            <a:lvl4pPr marL="1128713" indent="-190500">
              <a:defRPr sz="1600"/>
            </a:lvl4pPr>
            <a:lvl5pPr marL="1439863" indent="-185738">
              <a:defRPr sz="1600"/>
            </a:lvl5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GB"/>
          </a:p>
        </p:txBody>
      </p:sp>
      <p:sp>
        <p:nvSpPr>
          <p:cNvPr id="13" name="Rectangle 12"/>
          <p:cNvSpPr/>
          <p:nvPr userDrawn="1"/>
        </p:nvSpPr>
        <p:spPr>
          <a:xfrm>
            <a:off x="0" y="4545078"/>
            <a:ext cx="9144000" cy="597231"/>
          </a:xfrm>
          <a:prstGeom prst="rect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727075" indent="0" algn="l"/>
            <a:endParaRPr lang="en-GB" sz="1000"/>
          </a:p>
        </p:txBody>
      </p:sp>
      <p:pic>
        <p:nvPicPr>
          <p:cNvPr id="9" name="Picture 8" descr="TCD_White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478" y="4642666"/>
            <a:ext cx="1585894" cy="427482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8D990A1-B68F-2A49-BE34-734A4A613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39513" y="4881249"/>
            <a:ext cx="290100" cy="19186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DDBE135E-2566-4748-853C-8A3B78F0FB00}" type="slidenum">
              <a:rPr lang="en-IE" noProof="0" smtClean="0"/>
              <a:pPr/>
              <a:t>‹#›</a:t>
            </a:fld>
            <a:endParaRPr lang="en-IE" noProof="0"/>
          </a:p>
        </p:txBody>
      </p:sp>
    </p:spTree>
    <p:extLst>
      <p:ext uri="{BB962C8B-B14F-4D97-AF65-F5344CB8AC3E}">
        <p14:creationId xmlns:p14="http://schemas.microsoft.com/office/powerpoint/2010/main" val="2971917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4939200" y="1078712"/>
            <a:ext cx="4204800" cy="3807619"/>
          </a:xfrm>
          <a:solidFill>
            <a:schemeClr val="accent4"/>
          </a:solidFill>
        </p:spPr>
        <p:txBody>
          <a:bodyPr tIns="0" anchor="ctr" anchorCtr="0"/>
          <a:lstStyle>
            <a:lvl1pPr algn="ctr">
              <a:defRPr sz="1600" b="0">
                <a:solidFill>
                  <a:schemeClr val="accent3"/>
                </a:solidFill>
              </a:defRPr>
            </a:lvl1pPr>
          </a:lstStyle>
          <a:p>
            <a:r>
              <a:rPr lang="en-GB"/>
              <a:t>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828683" y="1428750"/>
            <a:ext cx="3819525" cy="2990766"/>
          </a:xfrm>
        </p:spPr>
        <p:txBody>
          <a:bodyPr/>
          <a:lstStyle>
            <a:lvl1pPr marL="238125" indent="-238125">
              <a:spcBef>
                <a:spcPts val="850"/>
              </a:spcBef>
              <a:buClr>
                <a:schemeClr val="tx2"/>
              </a:buClr>
              <a:buFont typeface="Calibri" panose="020F0502020204030204" pitchFamily="34" charset="0"/>
              <a:buChar char="–"/>
              <a:defRPr sz="1600" b="0"/>
            </a:lvl1pPr>
            <a:lvl2pPr marL="503238" indent="-207963">
              <a:spcBef>
                <a:spcPts val="0"/>
              </a:spcBef>
              <a:spcAft>
                <a:spcPts val="567"/>
              </a:spcAft>
              <a:defRPr sz="1600" b="0"/>
            </a:lvl2pPr>
            <a:lvl3pPr>
              <a:defRPr sz="1400" b="0"/>
            </a:lvl3pPr>
            <a:lvl4pPr>
              <a:defRPr sz="1400" b="0"/>
            </a:lvl4pPr>
            <a:lvl5pPr>
              <a:defRPr sz="1400" b="0"/>
            </a:lvl5pPr>
          </a:lstStyle>
          <a:p>
            <a:pPr lvl="0"/>
            <a:r>
              <a:rPr lang="en-IE" noProof="0"/>
              <a:t>Click to edit Master text styles</a:t>
            </a:r>
          </a:p>
          <a:p>
            <a:pPr lvl="1"/>
            <a:r>
              <a:rPr lang="en-IE" noProof="0"/>
              <a:t>Second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28675" y="685806"/>
            <a:ext cx="7500938" cy="207169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IE" noProof="0"/>
              <a:t>Click to edit Master text styles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4873500"/>
            <a:ext cx="9144000" cy="270000"/>
          </a:xfrm>
          <a:prstGeom prst="rect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727075" indent="0" algn="l"/>
            <a:r>
              <a:rPr lang="en-GB" sz="1000" b="1"/>
              <a:t>Trinity College Dublin, </a:t>
            </a:r>
            <a:r>
              <a:rPr lang="en-GB" sz="1000"/>
              <a:t>The University of Dublin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078706"/>
            <a:ext cx="9144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A149838-4667-8C41-A6F0-AC61A4FACE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39513" y="4881249"/>
            <a:ext cx="290100" cy="19186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DDBE135E-2566-4748-853C-8A3B78F0FB00}" type="slidenum">
              <a:rPr lang="en-IE" noProof="0" smtClean="0"/>
              <a:pPr/>
              <a:t>‹#›</a:t>
            </a:fld>
            <a:endParaRPr lang="en-IE" noProof="0"/>
          </a:p>
        </p:txBody>
      </p:sp>
    </p:spTree>
    <p:extLst>
      <p:ext uri="{BB962C8B-B14F-4D97-AF65-F5344CB8AC3E}">
        <p14:creationId xmlns:p14="http://schemas.microsoft.com/office/powerpoint/2010/main" val="128236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1078712"/>
            <a:ext cx="9144000" cy="3807619"/>
          </a:xfrm>
          <a:solidFill>
            <a:schemeClr val="accent4"/>
          </a:solidFill>
        </p:spPr>
        <p:txBody>
          <a:bodyPr tIns="0" anchor="ctr" anchorCtr="0"/>
          <a:lstStyle>
            <a:lvl1pPr algn="ctr">
              <a:defRPr sz="1600" b="0">
                <a:solidFill>
                  <a:schemeClr val="accent3"/>
                </a:solidFill>
              </a:defRPr>
            </a:lvl1pPr>
          </a:lstStyle>
          <a:p>
            <a:r>
              <a:rPr lang="en-GB"/>
              <a:t>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noProof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28675" y="685806"/>
            <a:ext cx="7500938" cy="207169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IE" noProof="0"/>
              <a:t>Click to edit Master text styles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4873500"/>
            <a:ext cx="9144000" cy="270000"/>
          </a:xfrm>
          <a:prstGeom prst="rect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727075" indent="0" algn="l"/>
            <a:r>
              <a:rPr lang="en-GB" sz="1000" b="1"/>
              <a:t>Trinity College Dublin, </a:t>
            </a:r>
            <a:r>
              <a:rPr lang="en-GB" sz="1000"/>
              <a:t>The University of Dublin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078706"/>
            <a:ext cx="9144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250068A-6AF5-9545-B42A-0DF4DC426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39513" y="4881249"/>
            <a:ext cx="290100" cy="19186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DDBE135E-2566-4748-853C-8A3B78F0FB00}" type="slidenum">
              <a:rPr lang="en-IE" noProof="0" smtClean="0"/>
              <a:pPr/>
              <a:t>‹#›</a:t>
            </a:fld>
            <a:endParaRPr lang="en-IE" noProof="0"/>
          </a:p>
        </p:txBody>
      </p:sp>
    </p:spTree>
    <p:extLst>
      <p:ext uri="{BB962C8B-B14F-4D97-AF65-F5344CB8AC3E}">
        <p14:creationId xmlns:p14="http://schemas.microsoft.com/office/powerpoint/2010/main" val="3138617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849E72E-C733-74BC-F8B2-07B1C554E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36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407" t="3474" r="80408" b="-2060"/>
          <a:stretch/>
        </p:blipFill>
        <p:spPr>
          <a:xfrm>
            <a:off x="5018567" y="1"/>
            <a:ext cx="412543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8686" y="2786400"/>
            <a:ext cx="7500939" cy="416138"/>
          </a:xfrm>
        </p:spPr>
        <p:txBody>
          <a:bodyPr/>
          <a:lstStyle>
            <a:lvl1pPr algn="l"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IE" noProof="0"/>
              <a:t>Click to edit Master title style</a:t>
            </a:r>
          </a:p>
        </p:txBody>
      </p:sp>
      <p:pic>
        <p:nvPicPr>
          <p:cNvPr id="5" name="Picture 4" descr="Trinity College Dublin Logo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477" y="381655"/>
            <a:ext cx="3039743" cy="8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789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noProof="0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01D4001-B407-4A4F-9142-F1AD168EA3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39513" y="4881249"/>
            <a:ext cx="290100" cy="19186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DDBE135E-2566-4748-853C-8A3B78F0FB00}" type="slidenum">
              <a:rPr lang="en-IE" noProof="0" smtClean="0"/>
              <a:pPr/>
              <a:t>‹#›</a:t>
            </a:fld>
            <a:endParaRPr lang="en-IE" noProof="0"/>
          </a:p>
        </p:txBody>
      </p:sp>
    </p:spTree>
    <p:extLst>
      <p:ext uri="{BB962C8B-B14F-4D97-AF65-F5344CB8AC3E}">
        <p14:creationId xmlns:p14="http://schemas.microsoft.com/office/powerpoint/2010/main" val="757743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8686" y="270000"/>
            <a:ext cx="7500939" cy="4212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IE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8675" y="1303403"/>
            <a:ext cx="7500938" cy="3072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IE" noProof="0"/>
              <a:t>Click to edit Master text styles</a:t>
            </a:r>
          </a:p>
          <a:p>
            <a:pPr lvl="1"/>
            <a:r>
              <a:rPr lang="en-IE" noProof="0"/>
              <a:t>Second level</a:t>
            </a:r>
          </a:p>
          <a:p>
            <a:pPr lvl="2"/>
            <a:r>
              <a:rPr lang="en-IE" noProof="0"/>
              <a:t>Third level</a:t>
            </a:r>
          </a:p>
          <a:p>
            <a:pPr lvl="3"/>
            <a:r>
              <a:rPr lang="en-IE" noProof="0"/>
              <a:t>Fourth level</a:t>
            </a:r>
          </a:p>
          <a:p>
            <a:pPr lvl="4"/>
            <a:r>
              <a:rPr lang="en-IE" noProof="0"/>
              <a:t>Fifth level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4873500"/>
            <a:ext cx="9144000" cy="270000"/>
          </a:xfrm>
          <a:prstGeom prst="rect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727075" indent="0" algn="l"/>
            <a:r>
              <a:rPr lang="en-GB" sz="1000" b="1"/>
              <a:t>Trinity College Dublin, </a:t>
            </a:r>
            <a:r>
              <a:rPr lang="en-GB" sz="1000"/>
              <a:t>The University of Dublin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078706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125E529-5F0B-4D4A-84B9-75C65BFBAA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39513" y="4881249"/>
            <a:ext cx="290100" cy="19186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DDBE135E-2566-4748-853C-8A3B78F0FB00}" type="slidenum">
              <a:rPr lang="en-IE" noProof="0" smtClean="0"/>
              <a:pPr/>
              <a:t>‹#›</a:t>
            </a:fld>
            <a:endParaRPr lang="en-IE" noProof="0"/>
          </a:p>
        </p:txBody>
      </p:sp>
    </p:spTree>
    <p:extLst>
      <p:ext uri="{BB962C8B-B14F-4D97-AF65-F5344CB8AC3E}">
        <p14:creationId xmlns:p14="http://schemas.microsoft.com/office/powerpoint/2010/main" val="1071066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60" r:id="rId3"/>
    <p:sldLayoutId id="2147483661" r:id="rId4"/>
    <p:sldLayoutId id="2147483657" r:id="rId5"/>
    <p:sldLayoutId id="2147483658" r:id="rId6"/>
    <p:sldLayoutId id="2147483659" r:id="rId7"/>
    <p:sldLayoutId id="2147483654" r:id="rId8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1417"/>
        </a:spcBef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317500" indent="-317500" algn="l" defTabSz="914400" rtl="0" eaLnBrk="1" latinLnBrk="0" hangingPunct="1">
        <a:spcBef>
          <a:spcPts val="1134"/>
        </a:spcBef>
        <a:buClr>
          <a:schemeClr val="tx2"/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68325" indent="-222250" algn="l" defTabSz="914400" rtl="0" eaLnBrk="1" latinLnBrk="0" hangingPunct="1">
        <a:spcBef>
          <a:spcPts val="1134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784225" indent="-201613" algn="l" defTabSz="914400" rtl="0" eaLnBrk="1" latinLnBrk="0" hangingPunct="1">
        <a:spcBef>
          <a:spcPts val="1134"/>
        </a:spcBef>
        <a:buClr>
          <a:schemeClr val="tx2"/>
        </a:buClr>
        <a:buFont typeface="Minion Pro" pitchFamily="18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00125" indent="-185738" algn="l" defTabSz="914400" rtl="0" eaLnBrk="1" latinLnBrk="0" hangingPunct="1">
        <a:spcBef>
          <a:spcPts val="1134"/>
        </a:spcBef>
        <a:buClr>
          <a:schemeClr val="tx2"/>
        </a:buClr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2800" b="0"/>
              <a:t>EEP55C34 Advanced AI</a:t>
            </a:r>
            <a:endParaRPr lang="en-IE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GB">
                <a:ea typeface="Calibri"/>
                <a:cs typeface="Calibri"/>
              </a:rPr>
              <a:t>Reinforcement Learning for Pong</a:t>
            </a:r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28688" y="3952068"/>
            <a:ext cx="4679325" cy="836909"/>
          </a:xfrm>
        </p:spPr>
        <p:txBody>
          <a:bodyPr anchor="b"/>
          <a:lstStyle/>
          <a:p>
            <a:r>
              <a:rPr lang="en-IE" sz="1600"/>
              <a:t>Arlene Haas – Ciarán Cope – Nathaniel Kaye Mellor</a:t>
            </a:r>
            <a:endParaRPr lang="en-US"/>
          </a:p>
          <a:p>
            <a:pPr lvl="1"/>
            <a:r>
              <a:rPr lang="en-IE" sz="1600"/>
              <a:t>Group 1 Preview Presentation </a:t>
            </a:r>
            <a:endParaRPr lang="en-IE" sz="1600" noProof="0">
              <a:ea typeface="Calibri"/>
              <a:cs typeface="Calibri"/>
            </a:endParaRPr>
          </a:p>
          <a:p>
            <a:pPr lvl="2"/>
            <a:r>
              <a:rPr lang="en-IE" sz="1600" noProof="0"/>
              <a:t>Date </a:t>
            </a:r>
            <a:r>
              <a:rPr lang="en-IE" sz="1600"/>
              <a:t>12/03/26</a:t>
            </a:r>
            <a:endParaRPr lang="en-IE" sz="1600" noProof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2792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10054DF-9F6E-C32C-37F5-E0A988FDB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5413D-D593-2DDF-B636-9ED5701288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IE"/>
              <a:t>Goal: Select actions to maximise total future reward</a:t>
            </a:r>
            <a:endParaRPr lang="en-US">
              <a:ea typeface="Calibri"/>
              <a:cs typeface="Calibri"/>
            </a:endParaRPr>
          </a:p>
          <a:p>
            <a:r>
              <a:rPr lang="en-IE"/>
              <a:t>Rules of the game are unknown </a:t>
            </a:r>
            <a:endParaRPr lang="en-IE">
              <a:ea typeface="Calibri"/>
              <a:cs typeface="Calibri"/>
            </a:endParaRPr>
          </a:p>
          <a:p>
            <a:r>
              <a:rPr lang="en-IE"/>
              <a:t>Learn directly from interactive game-play</a:t>
            </a:r>
            <a:endParaRPr lang="en-IE">
              <a:ea typeface="Calibri"/>
              <a:cs typeface="Calibri"/>
            </a:endParaRPr>
          </a:p>
          <a:p>
            <a:r>
              <a:rPr lang="en-IE"/>
              <a:t>At each step </a:t>
            </a:r>
            <a:r>
              <a:rPr lang="en-IE" i="1"/>
              <a:t>t </a:t>
            </a:r>
            <a:r>
              <a:rPr lang="en-IE"/>
              <a:t>the agent:</a:t>
            </a:r>
            <a:endParaRPr lang="en-IE">
              <a:ea typeface="Calibri"/>
              <a:cs typeface="Calibri"/>
            </a:endParaRPr>
          </a:p>
          <a:p>
            <a:pPr marL="502920" lvl="1" indent="-207645"/>
            <a:r>
              <a:rPr lang="en-IE"/>
              <a:t>Executes action </a:t>
            </a:r>
            <a:r>
              <a:rPr lang="en-IE" i="1">
                <a:ea typeface="+mn-lt"/>
                <a:cs typeface="+mn-lt"/>
              </a:rPr>
              <a:t>A</a:t>
            </a:r>
            <a:r>
              <a:rPr lang="en-IE" i="1" baseline="-25000">
                <a:ea typeface="+mn-lt"/>
                <a:cs typeface="+mn-lt"/>
              </a:rPr>
              <a:t>t</a:t>
            </a:r>
            <a:endParaRPr lang="en-IE" i="1">
              <a:ea typeface="Calibri"/>
              <a:cs typeface="Calibri"/>
            </a:endParaRPr>
          </a:p>
          <a:p>
            <a:pPr marL="502920" lvl="1" indent="-207645"/>
            <a:r>
              <a:rPr lang="en-IE"/>
              <a:t>Receives observation </a:t>
            </a:r>
            <a:r>
              <a:rPr lang="en-IE" i="1">
                <a:ea typeface="+mn-lt"/>
                <a:cs typeface="+mn-lt"/>
              </a:rPr>
              <a:t>O</a:t>
            </a:r>
            <a:r>
              <a:rPr lang="en-IE" i="1" baseline="-25000">
                <a:ea typeface="+mn-lt"/>
                <a:cs typeface="+mn-lt"/>
              </a:rPr>
              <a:t>t</a:t>
            </a:r>
            <a:endParaRPr lang="en-IE" i="1">
              <a:ea typeface="+mn-lt"/>
              <a:cs typeface="+mn-lt"/>
            </a:endParaRPr>
          </a:p>
          <a:p>
            <a:pPr marL="502920" lvl="1" indent="-207645"/>
            <a:r>
              <a:rPr lang="en-IE"/>
              <a:t>Receives scalar reward </a:t>
            </a:r>
            <a:r>
              <a:rPr lang="en-IE" i="1">
                <a:ea typeface="+mn-lt"/>
                <a:cs typeface="+mn-lt"/>
              </a:rPr>
              <a:t>R</a:t>
            </a:r>
            <a:r>
              <a:rPr lang="en-IE" i="1" baseline="-25000">
                <a:ea typeface="+mn-lt"/>
                <a:cs typeface="+mn-lt"/>
              </a:rPr>
              <a:t>t</a:t>
            </a:r>
            <a:endParaRPr lang="en-IE" i="1">
              <a:ea typeface="+mn-lt"/>
              <a:cs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A1E5B-ED01-6CFA-59B9-C2E1A1130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BE135E-2566-4748-853C-8A3B78F0FB00}" type="slidenum">
              <a:rPr lang="en-IE" smtClean="0"/>
              <a:pPr/>
              <a:t>2</a:t>
            </a:fld>
            <a:endParaRPr lang="en-IE"/>
          </a:p>
        </p:txBody>
      </p:sp>
      <p:pic>
        <p:nvPicPr>
          <p:cNvPr id="6" name="Picture Placeholder 5" descr="A diagram of a brain&#10;&#10;AI-generated content may be incorrect.">
            <a:extLst>
              <a:ext uri="{FF2B5EF4-FFF2-40B4-BE49-F238E27FC236}">
                <a16:creationId xmlns:a16="http://schemas.microsoft.com/office/drawing/2014/main" id="{46D8F73A-7F99-54B4-1A94-7F3013A2C82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39" r="13139"/>
          <a:stretch>
            <a:fillRect/>
          </a:stretch>
        </p:blipFill>
        <p:spPr>
          <a:xfrm>
            <a:off x="4938713" y="1107006"/>
            <a:ext cx="4205287" cy="377931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4755F22-BD58-6C7A-4BAD-3ACF6ED62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86" y="270000"/>
            <a:ext cx="7500939" cy="421200"/>
          </a:xfrm>
        </p:spPr>
        <p:txBody>
          <a:bodyPr/>
          <a:lstStyle/>
          <a:p>
            <a:r>
              <a:rPr lang="en-GB">
                <a:ea typeface="Calibri"/>
                <a:cs typeface="Calibri"/>
              </a:rPr>
              <a:t>Introduction to Reinforcement Learning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B50D5E6-B4CE-7C78-989A-B072D28F46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8675" y="685806"/>
            <a:ext cx="7500938" cy="207169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IE">
                <a:ea typeface="Calibri"/>
                <a:cs typeface="Calibri"/>
              </a:rPr>
              <a:t>What is it?</a:t>
            </a:r>
          </a:p>
        </p:txBody>
      </p:sp>
    </p:spTree>
    <p:extLst>
      <p:ext uri="{BB962C8B-B14F-4D97-AF65-F5344CB8AC3E}">
        <p14:creationId xmlns:p14="http://schemas.microsoft.com/office/powerpoint/2010/main" val="462856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C8812-C4F9-C8DB-B8F6-8B43B56FC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837600-01A2-A47B-7E05-46048D469E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847" y="1413092"/>
            <a:ext cx="3764724" cy="2701102"/>
          </a:xfrm>
        </p:spPr>
        <p:txBody>
          <a:bodyPr vert="horz" lIns="0" tIns="0" rIns="0" bIns="0" rtlCol="0" anchor="ctr">
            <a:noAutofit/>
          </a:bodyPr>
          <a:lstStyle/>
          <a:p>
            <a:r>
              <a:rPr lang="en-IE" sz="1800"/>
              <a:t>Goal: Select actions to maximise total future reward</a:t>
            </a:r>
            <a:endParaRPr lang="en-US" sz="1800">
              <a:ea typeface="Calibri"/>
              <a:cs typeface="Calibri"/>
            </a:endParaRPr>
          </a:p>
          <a:p>
            <a:r>
              <a:rPr lang="en-IE" sz="1800"/>
              <a:t>Rules of the game are unknown </a:t>
            </a:r>
            <a:endParaRPr lang="en-IE" sz="1800">
              <a:ea typeface="Calibri"/>
              <a:cs typeface="Calibri"/>
            </a:endParaRPr>
          </a:p>
          <a:p>
            <a:r>
              <a:rPr lang="en-IE" sz="1800"/>
              <a:t>Learn directly from interactive game-play</a:t>
            </a:r>
            <a:endParaRPr lang="en-IE" sz="1800"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A03E7-B2C9-72E2-B3EC-F923174E9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BE135E-2566-4748-853C-8A3B78F0FB00}" type="slidenum">
              <a:rPr lang="en-IE" smtClean="0"/>
              <a:pPr/>
              <a:t>3</a:t>
            </a:fld>
            <a:endParaRPr lang="en-IE"/>
          </a:p>
        </p:txBody>
      </p:sp>
      <p:pic>
        <p:nvPicPr>
          <p:cNvPr id="6" name="Picture Placeholder 5" descr="A diagram of a brain&#10;&#10;AI-generated content may be incorrect.">
            <a:extLst>
              <a:ext uri="{FF2B5EF4-FFF2-40B4-BE49-F238E27FC236}">
                <a16:creationId xmlns:a16="http://schemas.microsoft.com/office/drawing/2014/main" id="{374A9393-FCA4-2E97-D387-26E36D2762C2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39" r="13139"/>
          <a:stretch>
            <a:fillRect/>
          </a:stretch>
        </p:blipFill>
        <p:spPr>
          <a:xfrm>
            <a:off x="4735165" y="1099177"/>
            <a:ext cx="4205287" cy="377931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26DEB90-C7FC-64B2-5A0A-6815C7ED6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86" y="270000"/>
            <a:ext cx="7500939" cy="421200"/>
          </a:xfrm>
        </p:spPr>
        <p:txBody>
          <a:bodyPr/>
          <a:lstStyle/>
          <a:p>
            <a:r>
              <a:rPr lang="en-GB">
                <a:ea typeface="Calibri"/>
                <a:cs typeface="Calibri"/>
              </a:rPr>
              <a:t>Introduction to Reinforcement Learning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13A4392-22F1-3117-6052-031870376D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8675" y="685806"/>
            <a:ext cx="7500938" cy="207169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IE">
                <a:ea typeface="Calibri"/>
                <a:cs typeface="Calibri"/>
              </a:rPr>
              <a:t>What is it?</a:t>
            </a:r>
          </a:p>
        </p:txBody>
      </p:sp>
    </p:spTree>
    <p:extLst>
      <p:ext uri="{BB962C8B-B14F-4D97-AF65-F5344CB8AC3E}">
        <p14:creationId xmlns:p14="http://schemas.microsoft.com/office/powerpoint/2010/main" val="3810434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C73FF-8037-9BA3-E060-6B4C51853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FBDA201-845E-DE5C-13FF-5DD092AA9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Introduction to Reinforcement Learning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B425AD3-5C10-9932-BFE8-93E0876A46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1441" y="889844"/>
            <a:ext cx="7500938" cy="3571308"/>
          </a:xfrm>
        </p:spPr>
        <p:txBody>
          <a:bodyPr vert="horz" lIns="0" tIns="0" rIns="0" bIns="0" rtlCol="0" anchor="ctr">
            <a:noAutofit/>
          </a:bodyPr>
          <a:lstStyle/>
          <a:p>
            <a:pPr marL="285750" indent="-285750">
              <a:buChar char="•"/>
            </a:pPr>
            <a:r>
              <a:rPr lang="en-IE" sz="1800" b="0">
                <a:ea typeface="Calibri"/>
                <a:cs typeface="Calibri"/>
              </a:rPr>
              <a:t>Aim is to learn the optimal action-value function, Q(s, a)</a:t>
            </a:r>
          </a:p>
          <a:p>
            <a:pPr marL="285750" indent="-285750">
              <a:buChar char="•"/>
            </a:pPr>
            <a:r>
              <a:rPr lang="en-IE" sz="1800" b="0">
                <a:ea typeface="Calibri"/>
                <a:cs typeface="Calibri"/>
              </a:rPr>
              <a:t>Agent's behaviour is defined by a policy, π</a:t>
            </a:r>
          </a:p>
          <a:p>
            <a:pPr marL="285750" indent="-285750">
              <a:buChar char="•"/>
            </a:pPr>
            <a:r>
              <a:rPr lang="en-IE" sz="1800" b="0">
                <a:ea typeface="Calibri"/>
                <a:cs typeface="Calibri"/>
              </a:rPr>
              <a:t>Exploration vs Exploitation challenge</a:t>
            </a:r>
          </a:p>
          <a:p>
            <a:pPr marL="285750" indent="-285750">
              <a:buChar char="•"/>
            </a:pPr>
            <a:r>
              <a:rPr lang="en-IE" sz="1800" b="0">
                <a:ea typeface="Calibri"/>
                <a:cs typeface="Calibri"/>
              </a:rPr>
              <a:t>Our approach:</a:t>
            </a:r>
          </a:p>
          <a:p>
            <a:pPr marL="603250" lvl="1">
              <a:buClr>
                <a:srgbClr val="0569B9"/>
              </a:buClr>
              <a:buFont typeface="Courier New" pitchFamily="34" charset="0"/>
              <a:buChar char="o"/>
            </a:pPr>
            <a:r>
              <a:rPr lang="en-IE" sz="1800" b="0">
                <a:ea typeface="Calibri"/>
                <a:cs typeface="Calibri"/>
              </a:rPr>
              <a:t>Off-policy </a:t>
            </a:r>
            <a:r>
              <a:rPr lang="en-IE" sz="1800">
                <a:ea typeface="Calibri"/>
                <a:cs typeface="Calibri"/>
              </a:rPr>
              <a:t>control</a:t>
            </a:r>
          </a:p>
          <a:p>
            <a:pPr marL="603250" lvl="1">
              <a:buClr>
                <a:srgbClr val="0569B9"/>
              </a:buClr>
              <a:buFont typeface="Courier New" pitchFamily="34" charset="0"/>
              <a:buChar char="o"/>
            </a:pPr>
            <a:r>
              <a:rPr lang="en-IE" sz="1800">
                <a:ea typeface="Calibri"/>
                <a:cs typeface="Calibri"/>
              </a:rPr>
              <a:t>Deep Q-learning (DQN) algorithm – more on this next week :) </a:t>
            </a:r>
            <a:endParaRPr lang="en-IE" sz="1800" b="0">
              <a:ea typeface="Calibri"/>
              <a:cs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630357-9C2E-D7D4-484F-13F0A346F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39513" y="4881249"/>
            <a:ext cx="290100" cy="191861"/>
          </a:xfrm>
        </p:spPr>
        <p:txBody>
          <a:bodyPr/>
          <a:lstStyle/>
          <a:p>
            <a:fld id="{DDBE135E-2566-4748-853C-8A3B78F0FB00}" type="slidenum">
              <a:rPr lang="en-IE" smtClean="0"/>
              <a:pPr/>
              <a:t>4</a:t>
            </a:fld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E06680-946D-D64D-BFF9-13C2A357AB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>
                <a:ea typeface="Calibri"/>
                <a:cs typeface="Calibri"/>
              </a:rPr>
              <a:t>How does the agent learn?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909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239F9-6F0E-0652-B418-5592CA766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DE89C8EC-566F-855E-3098-5CB9CB0A8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Reinforcement Learning for Pong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8C172-CC83-9A11-0398-B95AB5E473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IE" b="1"/>
              <a:t>Baseline Goal</a:t>
            </a:r>
            <a:r>
              <a:rPr lang="en-IE"/>
              <a:t> – Train a CNN to play an arcade game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677F9C2-E439-63FE-4E68-96F0F08E58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8857" y="1475374"/>
            <a:ext cx="3390757" cy="2903525"/>
          </a:xfrm>
        </p:spPr>
        <p:txBody>
          <a:bodyPr vert="horz" lIns="0" tIns="0" rIns="0" bIns="0" rtlCol="0" anchor="t">
            <a:noAutofit/>
          </a:bodyPr>
          <a:lstStyle/>
          <a:p>
            <a:endParaRPr lang="en-IE" sz="1600" b="0">
              <a:ea typeface="Calibri"/>
              <a:cs typeface="Calibri"/>
            </a:endParaRPr>
          </a:p>
          <a:p>
            <a:endParaRPr lang="en-IE" b="0">
              <a:ea typeface="Calibri"/>
              <a:cs typeface="Calibri"/>
            </a:endParaRPr>
          </a:p>
          <a:p>
            <a:endParaRPr lang="en-IE" b="0">
              <a:ea typeface="Calibri"/>
              <a:cs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F7880B-ABDB-E036-93C3-8E484DC92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39513" y="4881249"/>
            <a:ext cx="290100" cy="191861"/>
          </a:xfrm>
        </p:spPr>
        <p:txBody>
          <a:bodyPr/>
          <a:lstStyle/>
          <a:p>
            <a:fld id="{DDBE135E-2566-4748-853C-8A3B78F0FB00}" type="slidenum">
              <a:rPr lang="en-IE" smtClean="0"/>
              <a:pPr/>
              <a:t>5</a:t>
            </a:fld>
            <a:endParaRPr lang="en-I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DA782-88EE-CC8C-C1D1-32EB55D7C3DC}"/>
              </a:ext>
            </a:extLst>
          </p:cNvPr>
          <p:cNvSpPr txBox="1"/>
          <p:nvPr/>
        </p:nvSpPr>
        <p:spPr>
          <a:xfrm>
            <a:off x="1536758" y="1098564"/>
            <a:ext cx="58974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b="1">
                <a:ea typeface="Calibri"/>
                <a:cs typeface="Calibri"/>
              </a:rPr>
              <a:t>Tetris    vs    Pong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4C98EF8D-34C1-4B71-2A2D-3A5072881D12}"/>
              </a:ext>
            </a:extLst>
          </p:cNvPr>
          <p:cNvSpPr txBox="1">
            <a:spLocks/>
          </p:cNvSpPr>
          <p:nvPr/>
        </p:nvSpPr>
        <p:spPr>
          <a:xfrm>
            <a:off x="1255158" y="1715869"/>
            <a:ext cx="3390757" cy="290352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1417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7500" indent="-317500" algn="l" defTabSz="914400" rtl="0" eaLnBrk="1" latinLnBrk="0" hangingPunct="1">
              <a:spcBef>
                <a:spcPts val="1134"/>
              </a:spcBef>
              <a:buClr>
                <a:schemeClr val="tx2"/>
              </a:buClr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8325" indent="-222250" algn="l" defTabSz="914400" rtl="0" eaLnBrk="1" latinLnBrk="0" hangingPunct="1">
              <a:spcBef>
                <a:spcPts val="1134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84225" indent="-201613" algn="l" defTabSz="914400" rtl="0" eaLnBrk="1" latinLnBrk="0" hangingPunct="1">
              <a:spcBef>
                <a:spcPts val="1134"/>
              </a:spcBef>
              <a:buClr>
                <a:schemeClr val="tx2"/>
              </a:buClr>
              <a:buFont typeface="Minion Pro" pitchFamily="18" charset="0"/>
              <a:buChar char="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0125" indent="-185738" algn="l" defTabSz="914400" rtl="0" eaLnBrk="1" latinLnBrk="0" hangingPunct="1">
              <a:spcBef>
                <a:spcPts val="1134"/>
              </a:spcBef>
              <a:buClr>
                <a:schemeClr val="tx2"/>
              </a:buClr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1400">
                <a:ea typeface="Calibri"/>
                <a:cs typeface="Calibri"/>
              </a:rPr>
              <a:t>Unsuitable game for RL</a:t>
            </a:r>
            <a:r>
              <a:rPr lang="en-IE" sz="1400" b="0">
                <a:ea typeface="Calibri"/>
                <a:cs typeface="Calibri"/>
              </a:rPr>
              <a:t> – No clear goal, rewards are too sparse, difficult for the model to learn.</a:t>
            </a:r>
            <a:endParaRPr lang="en-IE" sz="1400" b="0">
              <a:ea typeface="+mn-lt"/>
              <a:cs typeface="+mn-lt"/>
            </a:endParaRPr>
          </a:p>
          <a:p>
            <a:r>
              <a:rPr lang="en-IE" sz="1400">
                <a:ea typeface="Calibri"/>
                <a:cs typeface="Calibri"/>
              </a:rPr>
              <a:t>States</a:t>
            </a:r>
            <a:r>
              <a:rPr lang="en-IE" sz="1400" b="0">
                <a:ea typeface="Calibri"/>
                <a:cs typeface="Calibri"/>
              </a:rPr>
              <a:t> –</a:t>
            </a:r>
            <a:r>
              <a:rPr lang="en-IE" sz="1400" b="0">
                <a:ea typeface="+mn-lt"/>
                <a:cs typeface="+mn-lt"/>
              </a:rPr>
              <a:t> Grid representation of the board showing the current stack of blocks</a:t>
            </a:r>
            <a:r>
              <a:rPr lang="en-IE" sz="1400" b="0">
                <a:ea typeface="Calibri"/>
                <a:cs typeface="Calibri"/>
              </a:rPr>
              <a:t> </a:t>
            </a:r>
          </a:p>
          <a:p>
            <a:r>
              <a:rPr lang="en-IE" sz="1400">
                <a:ea typeface="Calibri"/>
                <a:cs typeface="Calibri"/>
              </a:rPr>
              <a:t>Reward</a:t>
            </a:r>
            <a:r>
              <a:rPr lang="en-IE" sz="1400" b="0">
                <a:ea typeface="Calibri"/>
                <a:cs typeface="Calibri"/>
              </a:rPr>
              <a:t> - </a:t>
            </a:r>
            <a:r>
              <a:rPr lang="en-IE" sz="1400" b="0">
                <a:ea typeface="+mn-lt"/>
                <a:cs typeface="+mn-lt"/>
              </a:rPr>
              <a:t>Number of lines cleared or time spent surviving the game. </a:t>
            </a:r>
          </a:p>
          <a:p>
            <a:r>
              <a:rPr lang="en-IE" sz="1400">
                <a:ea typeface="Calibri"/>
                <a:cs typeface="Calibri"/>
              </a:rPr>
              <a:t>Output</a:t>
            </a:r>
            <a:r>
              <a:rPr lang="en-IE" sz="1400" b="0">
                <a:ea typeface="Calibri"/>
                <a:cs typeface="Calibri"/>
              </a:rPr>
              <a:t> - Q-value for each action.</a:t>
            </a:r>
            <a:endParaRPr lang="en-IE" sz="1400">
              <a:ea typeface="Calibri"/>
              <a:cs typeface="Calibri"/>
            </a:endParaRPr>
          </a:p>
          <a:p>
            <a:endParaRPr lang="en-IE" b="0">
              <a:ea typeface="Calibri"/>
              <a:cs typeface="Calibri"/>
            </a:endParaRPr>
          </a:p>
          <a:p>
            <a:endParaRPr lang="en-IE" b="0">
              <a:ea typeface="Calibri"/>
              <a:cs typeface="Calibri"/>
            </a:endParaRP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F08031FA-B29D-49C5-B9C1-009850FF7F77}"/>
              </a:ext>
            </a:extLst>
          </p:cNvPr>
          <p:cNvSpPr txBox="1">
            <a:spLocks/>
          </p:cNvSpPr>
          <p:nvPr/>
        </p:nvSpPr>
        <p:spPr>
          <a:xfrm>
            <a:off x="4822849" y="1715869"/>
            <a:ext cx="3107409" cy="290352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1417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7500" indent="-317500" algn="l" defTabSz="914400" rtl="0" eaLnBrk="1" latinLnBrk="0" hangingPunct="1">
              <a:spcBef>
                <a:spcPts val="1134"/>
              </a:spcBef>
              <a:buClr>
                <a:schemeClr val="tx2"/>
              </a:buClr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8325" indent="-222250" algn="l" defTabSz="914400" rtl="0" eaLnBrk="1" latinLnBrk="0" hangingPunct="1">
              <a:spcBef>
                <a:spcPts val="1134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84225" indent="-201613" algn="l" defTabSz="914400" rtl="0" eaLnBrk="1" latinLnBrk="0" hangingPunct="1">
              <a:spcBef>
                <a:spcPts val="1134"/>
              </a:spcBef>
              <a:buClr>
                <a:schemeClr val="tx2"/>
              </a:buClr>
              <a:buFont typeface="Minion Pro" pitchFamily="18" charset="0"/>
              <a:buChar char="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0125" indent="-185738" algn="l" defTabSz="914400" rtl="0" eaLnBrk="1" latinLnBrk="0" hangingPunct="1">
              <a:spcBef>
                <a:spcPts val="1134"/>
              </a:spcBef>
              <a:buClr>
                <a:schemeClr val="tx2"/>
              </a:buClr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1400">
                <a:ea typeface="+mn-lt"/>
                <a:cs typeface="+mn-lt"/>
              </a:rPr>
              <a:t>Suitable game for RL</a:t>
            </a:r>
            <a:r>
              <a:rPr lang="en-IE" sz="1400" b="0">
                <a:ea typeface="+mn-lt"/>
                <a:cs typeface="+mn-lt"/>
              </a:rPr>
              <a:t> – well defined rewards, a discrete action space and a clear goal </a:t>
            </a:r>
          </a:p>
          <a:p>
            <a:r>
              <a:rPr lang="en-IE" sz="1400">
                <a:ea typeface="+mn-lt"/>
                <a:cs typeface="+mn-lt"/>
              </a:rPr>
              <a:t>States</a:t>
            </a:r>
            <a:r>
              <a:rPr lang="en-IE" sz="1400" b="0">
                <a:ea typeface="+mn-lt"/>
                <a:cs typeface="+mn-lt"/>
              </a:rPr>
              <a:t> – Raw pixels from last 4 frames, rewards and actions defined by the Arcade Learning Environment (ALE)</a:t>
            </a:r>
          </a:p>
          <a:p>
            <a:r>
              <a:rPr lang="en-IE" sz="1400">
                <a:ea typeface="+mn-lt"/>
                <a:cs typeface="+mn-lt"/>
              </a:rPr>
              <a:t>Reward</a:t>
            </a:r>
            <a:r>
              <a:rPr lang="en-IE" sz="1400" b="0">
                <a:ea typeface="+mn-lt"/>
                <a:cs typeface="+mn-lt"/>
              </a:rPr>
              <a:t> - Change in score for that step.</a:t>
            </a:r>
          </a:p>
          <a:p>
            <a:r>
              <a:rPr lang="en-IE" sz="1400">
                <a:ea typeface="+mn-lt"/>
                <a:cs typeface="+mn-lt"/>
              </a:rPr>
              <a:t>Output</a:t>
            </a:r>
            <a:r>
              <a:rPr lang="en-IE" sz="1400" b="0">
                <a:ea typeface="+mn-lt"/>
                <a:cs typeface="+mn-lt"/>
              </a:rPr>
              <a:t> - Q-value for each action.</a:t>
            </a:r>
            <a:endParaRPr lang="en-US" sz="1400">
              <a:ea typeface="+mn-lt"/>
              <a:cs typeface="+mn-lt"/>
            </a:endParaRPr>
          </a:p>
          <a:p>
            <a:endParaRPr lang="en-IE" sz="1400" b="0">
              <a:ea typeface="Calibri"/>
              <a:cs typeface="Calibri"/>
            </a:endParaRPr>
          </a:p>
          <a:p>
            <a:endParaRPr lang="en-IE" sz="1400" b="0">
              <a:ea typeface="Calibri"/>
              <a:cs typeface="Calibri"/>
            </a:endParaRPr>
          </a:p>
        </p:txBody>
      </p:sp>
      <p:pic>
        <p:nvPicPr>
          <p:cNvPr id="8" name="Picture 7" descr="Pong — Retro Gaming Essentials (No. 38) – DaveGladow.com">
            <a:extLst>
              <a:ext uri="{FF2B5EF4-FFF2-40B4-BE49-F238E27FC236}">
                <a16:creationId xmlns:a16="http://schemas.microsoft.com/office/drawing/2014/main" id="{D184DEEB-2E7C-45B7-7BCE-D49346836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7674458" y="2061312"/>
            <a:ext cx="1750726" cy="1020051"/>
          </a:xfrm>
          <a:prstGeom prst="rect">
            <a:avLst/>
          </a:prstGeom>
        </p:spPr>
      </p:pic>
      <p:pic>
        <p:nvPicPr>
          <p:cNvPr id="10" name="Picture 9" descr="Tetris games with new pieces : r/retrogaming">
            <a:extLst>
              <a:ext uri="{FF2B5EF4-FFF2-40B4-BE49-F238E27FC236}">
                <a16:creationId xmlns:a16="http://schemas.microsoft.com/office/drawing/2014/main" id="{11015AAE-8C42-F754-BB32-0CADE0B51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-154161" y="2158501"/>
            <a:ext cx="1532964" cy="107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218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"/>
                <a:cs typeface="Calibri"/>
              </a:rPr>
              <a:t>CNN / Vision Transformer / SWIN 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 vert="horz" lIns="0" tIns="0" rIns="0" bIns="0" rtlCol="0" anchor="t">
            <a:noAutofit/>
          </a:bodyPr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8CD0D1-EDF3-0048-B2CC-87E57CD34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BE135E-2566-4748-853C-8A3B78F0FB00}" type="slidenum">
              <a:rPr lang="en-IE" smtClean="0"/>
              <a:pPr/>
              <a:t>6</a:t>
            </a:fld>
            <a:endParaRPr lang="en-IE"/>
          </a:p>
        </p:txBody>
      </p:sp>
      <p:pic>
        <p:nvPicPr>
          <p:cNvPr id="7" name="Picture 6" descr="A diagram of a diagram of a diagram&#10;&#10;AI-generated content may be incorrect.">
            <a:extLst>
              <a:ext uri="{FF2B5EF4-FFF2-40B4-BE49-F238E27FC236}">
                <a16:creationId xmlns:a16="http://schemas.microsoft.com/office/drawing/2014/main" id="{28F99B0A-93FC-11FD-50EF-DF199B2D5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370" y="1743325"/>
            <a:ext cx="3709738" cy="1095378"/>
          </a:xfrm>
          <a:prstGeom prst="rect">
            <a:avLst/>
          </a:prstGeom>
        </p:spPr>
      </p:pic>
      <p:pic>
        <p:nvPicPr>
          <p:cNvPr id="8" name="Picture 7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76BB5A57-DC49-9E67-C06A-8CE7C6580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736" y="3363828"/>
            <a:ext cx="4953001" cy="8823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2D8FAB-E08C-7EE4-EAD7-7EA8A0A3281C}"/>
              </a:ext>
            </a:extLst>
          </p:cNvPr>
          <p:cNvSpPr txBox="1"/>
          <p:nvPr/>
        </p:nvSpPr>
        <p:spPr>
          <a:xfrm>
            <a:off x="6185687" y="4344261"/>
            <a:ext cx="284999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ea typeface="Calibri"/>
                <a:cs typeface="Calibri"/>
              </a:rPr>
              <a:t>[1] </a:t>
            </a:r>
            <a:r>
              <a:rPr lang="en-US" sz="8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Meng, Li, et al. "Deep Reinforcement Learning with Swin Transformers."</a:t>
            </a:r>
            <a:endParaRPr lang="en-US" sz="800"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B60BF8-8925-90F5-3106-3A3418ACF220}"/>
              </a:ext>
            </a:extLst>
          </p:cNvPr>
          <p:cNvSpPr txBox="1"/>
          <p:nvPr/>
        </p:nvSpPr>
        <p:spPr>
          <a:xfrm>
            <a:off x="4899048" y="1394961"/>
            <a:ext cx="34306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CNN Architecture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0DFAD7-C1DE-DB5A-524D-7DF08957720F}"/>
              </a:ext>
            </a:extLst>
          </p:cNvPr>
          <p:cNvSpPr txBox="1"/>
          <p:nvPr/>
        </p:nvSpPr>
        <p:spPr>
          <a:xfrm>
            <a:off x="4826657" y="2995161"/>
            <a:ext cx="34306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SWIN Architecture</a:t>
            </a:r>
            <a:endParaRPr lang="en-US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1DD4F126-D945-DF69-E69D-8BBE39017161}"/>
              </a:ext>
            </a:extLst>
          </p:cNvPr>
          <p:cNvSpPr txBox="1">
            <a:spLocks/>
          </p:cNvSpPr>
          <p:nvPr/>
        </p:nvSpPr>
        <p:spPr>
          <a:xfrm>
            <a:off x="-1519" y="1213694"/>
            <a:ext cx="3953828" cy="356368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238125" indent="-238125" algn="l" defTabSz="914400" rtl="0" eaLnBrk="1" latinLnBrk="0" hangingPunct="1">
              <a:spcBef>
                <a:spcPts val="850"/>
              </a:spcBef>
              <a:buClr>
                <a:schemeClr val="tx2"/>
              </a:buClr>
              <a:buFont typeface="Calibri" panose="020F0502020204030204" pitchFamily="34" charset="0"/>
              <a:buChar char="–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238" indent="-207963" algn="l" defTabSz="914400" rtl="0" eaLnBrk="1" latinLnBrk="0" hangingPunct="1">
              <a:spcBef>
                <a:spcPts val="0"/>
              </a:spcBef>
              <a:spcAft>
                <a:spcPts val="567"/>
              </a:spcAft>
              <a:buClr>
                <a:schemeClr val="tx2"/>
              </a:buClr>
              <a:buFont typeface="Arial" pitchFamily="34" charset="0"/>
              <a:buChar char="–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8325" indent="-222250" algn="l" defTabSz="914400" rtl="0" eaLnBrk="1" latinLnBrk="0" hangingPunct="1">
              <a:spcBef>
                <a:spcPts val="1134"/>
              </a:spcBef>
              <a:buClr>
                <a:schemeClr val="tx2"/>
              </a:buClr>
              <a:buFont typeface="Arial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84225" indent="-201613" algn="l" defTabSz="914400" rtl="0" eaLnBrk="1" latinLnBrk="0" hangingPunct="1">
              <a:spcBef>
                <a:spcPts val="1134"/>
              </a:spcBef>
              <a:buClr>
                <a:schemeClr val="tx2"/>
              </a:buClr>
              <a:buFont typeface="Minion Pro" pitchFamily="18" charset="0"/>
              <a:buChar char="‒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0125" indent="-185738" algn="l" defTabSz="914400" rtl="0" eaLnBrk="1" latinLnBrk="0" hangingPunct="1">
              <a:spcBef>
                <a:spcPts val="1134"/>
              </a:spcBef>
              <a:buClr>
                <a:schemeClr val="tx2"/>
              </a:buClr>
              <a:buFont typeface="Arial" pitchFamily="34" charset="0"/>
              <a:buChar char="»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2920" lvl="1" indent="-207645">
              <a:buFont typeface="Arial,Sans-Serif" panose="020F0502020204030204" pitchFamily="34" charset="0"/>
              <a:buChar char="•"/>
            </a:pPr>
            <a:r>
              <a:rPr lang="en-IE">
                <a:ea typeface="Calibri"/>
                <a:cs typeface="Calibri"/>
              </a:rPr>
              <a:t>Standard DQN architecture uses CNN as feature extractor [2]</a:t>
            </a:r>
            <a:endParaRPr lang="en-US">
              <a:ea typeface="Calibri"/>
              <a:cs typeface="Calibri"/>
            </a:endParaRPr>
          </a:p>
          <a:p>
            <a:pPr marL="502920" lvl="1" indent="-207645">
              <a:lnSpc>
                <a:spcPct val="200000"/>
              </a:lnSpc>
              <a:buFont typeface="Arial,Sans-Serif" panose="020F0502020204030204" pitchFamily="34" charset="0"/>
              <a:buChar char="•"/>
            </a:pPr>
            <a:r>
              <a:rPr lang="en-IE">
                <a:ea typeface="Calibri"/>
                <a:cs typeface="Calibri"/>
              </a:rPr>
              <a:t>We plan to replace this with </a:t>
            </a:r>
            <a:r>
              <a:rPr lang="en-IE" err="1">
                <a:ea typeface="Calibri"/>
                <a:cs typeface="Calibri"/>
              </a:rPr>
              <a:t>ViT</a:t>
            </a:r>
            <a:r>
              <a:rPr lang="en-IE">
                <a:ea typeface="Calibri"/>
                <a:cs typeface="Calibri"/>
              </a:rPr>
              <a:t>/SWIN</a:t>
            </a:r>
            <a:endParaRPr lang="en-US">
              <a:ea typeface="Calibri"/>
              <a:cs typeface="Calibri"/>
            </a:endParaRPr>
          </a:p>
          <a:p>
            <a:pPr marL="502920" lvl="1" indent="-207645">
              <a:buFont typeface="Arial,Sans-Serif" panose="020F0502020204030204" pitchFamily="34" charset="0"/>
              <a:buChar char="•"/>
            </a:pPr>
            <a:r>
              <a:rPr lang="en-IE">
                <a:ea typeface="Calibri"/>
                <a:cs typeface="Calibri"/>
              </a:rPr>
              <a:t>Compare each implementation on </a:t>
            </a:r>
            <a:r>
              <a:rPr lang="en-IE" err="1">
                <a:ea typeface="Calibri"/>
                <a:cs typeface="Calibri"/>
              </a:rPr>
              <a:t>polic</a:t>
            </a:r>
            <a:r>
              <a:rPr lang="en-IE">
                <a:ea typeface="Calibri"/>
                <a:cs typeface="Calibri"/>
              </a:rPr>
              <a:t>y convergence speed and final policy score.</a:t>
            </a:r>
          </a:p>
          <a:p>
            <a:pPr marL="502920" lvl="1" indent="-207645">
              <a:spcAft>
                <a:spcPts val="0"/>
              </a:spcAft>
              <a:buClr>
                <a:srgbClr val="0569B9"/>
              </a:buClr>
              <a:buFont typeface="Arial,Sans-Serif" panose="020F0502020204030204" pitchFamily="34" charset="0"/>
              <a:buChar char="•"/>
            </a:pPr>
            <a:endParaRPr lang="en-IE">
              <a:ea typeface="Calibri"/>
              <a:cs typeface="Calibri"/>
            </a:endParaRPr>
          </a:p>
          <a:p>
            <a:pPr marL="285750" indent="-285750">
              <a:buClr>
                <a:srgbClr val="0569B9"/>
              </a:buClr>
              <a:buFont typeface="Calibri" panose="020F0502020204030204" pitchFamily="34" charset="0"/>
              <a:buChar char="•"/>
            </a:pPr>
            <a:endParaRPr lang="en-IE" sz="18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59924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FF81D-4E90-46EA-6B32-A29293216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CC687615-5067-85A3-7402-97B77F750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Progress to date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134663-697A-0C6F-B944-24E11CF23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39513" y="4881249"/>
            <a:ext cx="290100" cy="191861"/>
          </a:xfrm>
        </p:spPr>
        <p:txBody>
          <a:bodyPr/>
          <a:lstStyle/>
          <a:p>
            <a:fld id="{DDBE135E-2566-4748-853C-8A3B78F0FB00}" type="slidenum">
              <a:rPr lang="en-IE" smtClean="0"/>
              <a:pPr/>
              <a:t>7</a:t>
            </a:fld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7698AF-EEA5-F91E-847F-83129D1B47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>
                <a:ea typeface="Calibri"/>
                <a:cs typeface="Calibri"/>
              </a:rPr>
              <a:t>Our agent is the green player on the right-hand side</a:t>
            </a:r>
            <a:endParaRPr lang="en-US"/>
          </a:p>
        </p:txBody>
      </p:sp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FD34B361-DBE6-37BB-DD81-4F0E572B8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183" y="1144474"/>
            <a:ext cx="5865911" cy="335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399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9BC78-C055-BF75-F6B4-00575B152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3122025D-1E79-3BC4-40D9-08AB6C024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100,000 iterations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4890C5-369F-F703-2FD7-B74C2A465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39513" y="4881249"/>
            <a:ext cx="290100" cy="191861"/>
          </a:xfrm>
        </p:spPr>
        <p:txBody>
          <a:bodyPr/>
          <a:lstStyle/>
          <a:p>
            <a:fld id="{DDBE135E-2566-4748-853C-8A3B78F0FB00}" type="slidenum">
              <a:rPr lang="en-IE" smtClean="0"/>
              <a:pPr/>
              <a:t>8</a:t>
            </a:fld>
            <a:endParaRPr lang="en-IE"/>
          </a:p>
        </p:txBody>
      </p:sp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F5B1F6C-8805-50BB-C50F-822AEAC05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812" y="1149689"/>
            <a:ext cx="5868019" cy="33111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4E70F0-4093-7580-C3D4-7793F49658CC}"/>
              </a:ext>
            </a:extLst>
          </p:cNvPr>
          <p:cNvSpPr txBox="1"/>
          <p:nvPr/>
        </p:nvSpPr>
        <p:spPr>
          <a:xfrm>
            <a:off x="7504562" y="1219768"/>
            <a:ext cx="135880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ea typeface="Calibri"/>
                <a:cs typeface="Calibri"/>
              </a:rPr>
              <a:t>*with CNN</a:t>
            </a:r>
          </a:p>
        </p:txBody>
      </p:sp>
    </p:spTree>
    <p:extLst>
      <p:ext uri="{BB962C8B-B14F-4D97-AF65-F5344CB8AC3E}">
        <p14:creationId xmlns:p14="http://schemas.microsoft.com/office/powerpoint/2010/main" val="3048355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9E247-5AFA-79A7-3D49-4782D0818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E27CDFE6-BDE1-D697-516A-2CD220575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300,000 iterations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0E27B3-0053-0495-1E2F-EFECD3F51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39513" y="4881249"/>
            <a:ext cx="290100" cy="191861"/>
          </a:xfrm>
        </p:spPr>
        <p:txBody>
          <a:bodyPr/>
          <a:lstStyle/>
          <a:p>
            <a:fld id="{DDBE135E-2566-4748-853C-8A3B78F0FB00}" type="slidenum">
              <a:rPr lang="en-IE" smtClean="0"/>
              <a:pPr/>
              <a:t>9</a:t>
            </a:fld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0C179-4831-4874-B672-D35CDB293C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>
                <a:ea typeface="Calibri"/>
                <a:cs typeface="Calibri"/>
              </a:rPr>
              <a:t>18 hours later...</a:t>
            </a:r>
            <a:endParaRPr lang="en-US"/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8B39EAC-31EC-C8D7-4A7C-93E7DFF79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812" y="1159617"/>
            <a:ext cx="5868017" cy="32912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B7EC7E-2597-6126-EDC0-60E1DF1A8C4F}"/>
              </a:ext>
            </a:extLst>
          </p:cNvPr>
          <p:cNvSpPr txBox="1"/>
          <p:nvPr/>
        </p:nvSpPr>
        <p:spPr>
          <a:xfrm>
            <a:off x="7504562" y="1219768"/>
            <a:ext cx="135880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ea typeface="Calibri"/>
                <a:cs typeface="Calibri"/>
              </a:rPr>
              <a:t>*with CNN</a:t>
            </a:r>
          </a:p>
        </p:txBody>
      </p:sp>
    </p:spTree>
    <p:extLst>
      <p:ext uri="{BB962C8B-B14F-4D97-AF65-F5344CB8AC3E}">
        <p14:creationId xmlns:p14="http://schemas.microsoft.com/office/powerpoint/2010/main" val="1736359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A25A7-C54A-CF04-0283-C241991E8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And still going...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1F3B35-68D7-8019-29BD-62F04BB305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CBA745-3828-40E3-014F-9576879207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BE135E-2566-4748-853C-8A3B78F0FB00}" type="slidenum">
              <a:rPr lang="en-IE" noProof="0" smtClean="0"/>
              <a:pPr/>
              <a:t>10</a:t>
            </a:fld>
            <a:endParaRPr lang="en-IE" noProof="0"/>
          </a:p>
        </p:txBody>
      </p:sp>
      <p:pic>
        <p:nvPicPr>
          <p:cNvPr id="6" name="Picture 5" descr="A graph with a line&#10;&#10;AI-generated content may be incorrect.">
            <a:extLst>
              <a:ext uri="{FF2B5EF4-FFF2-40B4-BE49-F238E27FC236}">
                <a16:creationId xmlns:a16="http://schemas.microsoft.com/office/drawing/2014/main" id="{E47B326E-78C6-DA4B-F7CE-10CAAE42B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70" y="1142326"/>
            <a:ext cx="4226019" cy="3176868"/>
          </a:xfrm>
          <a:prstGeom prst="rect">
            <a:avLst/>
          </a:prstGeom>
        </p:spPr>
      </p:pic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92CD5EDD-8D39-2551-29E6-B8242CCC15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6251" y="1141304"/>
            <a:ext cx="3839528" cy="3331278"/>
          </a:xfrm>
        </p:spPr>
        <p:txBody>
          <a:bodyPr vert="horz" lIns="0" tIns="0" rIns="0" bIns="0" rtlCol="0" anchor="ctr">
            <a:noAutofit/>
          </a:bodyPr>
          <a:lstStyle/>
          <a:p>
            <a:pPr marL="285750" indent="-285750">
              <a:buChar char="•"/>
            </a:pPr>
            <a:r>
              <a:rPr lang="en-IE" sz="1800" b="0">
                <a:ea typeface="Calibri"/>
                <a:cs typeface="Calibri"/>
              </a:rPr>
              <a:t>Graph shows moving average game score that our agent obtains</a:t>
            </a:r>
          </a:p>
          <a:p>
            <a:pPr marL="285750" indent="-285750">
              <a:buChar char="•"/>
            </a:pPr>
            <a:r>
              <a:rPr lang="en-IE" sz="1800" b="0">
                <a:ea typeface="Calibri"/>
                <a:cs typeface="Calibri"/>
              </a:rPr>
              <a:t>In Pong, the first to 21 points wins</a:t>
            </a:r>
          </a:p>
          <a:p>
            <a:pPr marL="285750" indent="-285750">
              <a:buChar char="•"/>
            </a:pPr>
            <a:r>
              <a:rPr lang="en-IE" sz="1800" b="0">
                <a:ea typeface="Calibri"/>
                <a:cs typeface="Calibri"/>
              </a:rPr>
              <a:t>e.g. -8 score -&gt; we lost 13 – 21 :(</a:t>
            </a:r>
          </a:p>
        </p:txBody>
      </p:sp>
    </p:spTree>
    <p:extLst>
      <p:ext uri="{BB962C8B-B14F-4D97-AF65-F5344CB8AC3E}">
        <p14:creationId xmlns:p14="http://schemas.microsoft.com/office/powerpoint/2010/main" val="2985126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3462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A6BCF-2ADC-FE0E-2AD5-EF3898BCB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References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ED7A-8CB8-662E-B345-7443771853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2925" y="1286952"/>
            <a:ext cx="7500938" cy="2891980"/>
          </a:xfrm>
        </p:spPr>
        <p:txBody>
          <a:bodyPr vert="horz" lIns="0" tIns="0" rIns="0" bIns="0" rtlCol="0" anchor="t">
            <a:noAutofit/>
          </a:bodyPr>
          <a:lstStyle/>
          <a:p>
            <a:pPr marL="342900" indent="-342900">
              <a:buAutoNum type="arabicPeriod"/>
            </a:pPr>
            <a:r>
              <a:rPr lang="en-US" sz="1000" b="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Meng, Li, et al. "Deep reinforcement learning with swin transformers." </a:t>
            </a:r>
            <a:r>
              <a:rPr lang="en-US" sz="1000" b="0" i="1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Proceedings of the 2024 8th international conference on digital signal processing</a:t>
            </a:r>
            <a:r>
              <a:rPr lang="en-US" sz="1000" b="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. 2024.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000" b="0">
                <a:solidFill>
                  <a:srgbClr val="212529"/>
                </a:solidFill>
                <a:highlight>
                  <a:srgbClr val="FFFFFF"/>
                </a:highlight>
                <a:ea typeface="+mn-lt"/>
                <a:cs typeface="+mn-lt"/>
              </a:rPr>
              <a:t>Volodymyr </a:t>
            </a:r>
            <a:r>
              <a:rPr lang="en-US" sz="1000" b="0" err="1">
                <a:solidFill>
                  <a:srgbClr val="212529"/>
                </a:solidFill>
                <a:highlight>
                  <a:srgbClr val="FFFFFF"/>
                </a:highlight>
                <a:ea typeface="+mn-lt"/>
                <a:cs typeface="+mn-lt"/>
              </a:rPr>
              <a:t>Mnih</a:t>
            </a:r>
            <a:r>
              <a:rPr lang="en-US" sz="1000" b="0">
                <a:solidFill>
                  <a:srgbClr val="212529"/>
                </a:solidFill>
                <a:highlight>
                  <a:srgbClr val="FFFFFF"/>
                </a:highlight>
                <a:ea typeface="+mn-lt"/>
                <a:cs typeface="+mn-lt"/>
              </a:rPr>
              <a:t>, , Koray </a:t>
            </a:r>
            <a:r>
              <a:rPr lang="en-US" sz="1000" b="0" err="1">
                <a:solidFill>
                  <a:srgbClr val="212529"/>
                </a:solidFill>
                <a:highlight>
                  <a:srgbClr val="FFFFFF"/>
                </a:highlight>
                <a:ea typeface="+mn-lt"/>
                <a:cs typeface="+mn-lt"/>
              </a:rPr>
              <a:t>Kavukcuoglu</a:t>
            </a:r>
            <a:r>
              <a:rPr lang="en-US" sz="1000" b="0">
                <a:solidFill>
                  <a:srgbClr val="212529"/>
                </a:solidFill>
                <a:highlight>
                  <a:srgbClr val="FFFFFF"/>
                </a:highlight>
                <a:ea typeface="+mn-lt"/>
                <a:cs typeface="+mn-lt"/>
              </a:rPr>
              <a:t>, David Silver, Alex Graves, Ioannis </a:t>
            </a:r>
            <a:r>
              <a:rPr lang="en-US" sz="1000" b="0" err="1">
                <a:solidFill>
                  <a:srgbClr val="212529"/>
                </a:solidFill>
                <a:highlight>
                  <a:srgbClr val="FFFFFF"/>
                </a:highlight>
                <a:ea typeface="+mn-lt"/>
                <a:cs typeface="+mn-lt"/>
              </a:rPr>
              <a:t>Antonoglou</a:t>
            </a:r>
            <a:r>
              <a:rPr lang="en-US" sz="1000" b="0">
                <a:solidFill>
                  <a:srgbClr val="212529"/>
                </a:solidFill>
                <a:highlight>
                  <a:srgbClr val="FFFFFF"/>
                </a:highlight>
                <a:ea typeface="+mn-lt"/>
                <a:cs typeface="+mn-lt"/>
              </a:rPr>
              <a:t>, Daan </a:t>
            </a:r>
            <a:r>
              <a:rPr lang="en-US" sz="1000" b="0" err="1">
                <a:solidFill>
                  <a:srgbClr val="212529"/>
                </a:solidFill>
                <a:highlight>
                  <a:srgbClr val="FFFFFF"/>
                </a:highlight>
                <a:ea typeface="+mn-lt"/>
                <a:cs typeface="+mn-lt"/>
              </a:rPr>
              <a:t>Wierstra</a:t>
            </a:r>
            <a:r>
              <a:rPr lang="en-US" sz="1000" b="0">
                <a:solidFill>
                  <a:srgbClr val="212529"/>
                </a:solidFill>
                <a:highlight>
                  <a:srgbClr val="FFFFFF"/>
                </a:highlight>
                <a:ea typeface="+mn-lt"/>
                <a:cs typeface="+mn-lt"/>
              </a:rPr>
              <a:t>, Martin Riedmiller. "Playing Atari with Deep Reinforcement Learning." (2013).</a:t>
            </a:r>
            <a:endParaRPr lang="en-US" sz="1000" b="0">
              <a:solidFill>
                <a:srgbClr val="222222"/>
              </a:solidFill>
              <a:highlight>
                <a:srgbClr val="FFFFFF"/>
              </a:highlight>
              <a:latin typeface="Arial"/>
              <a:ea typeface="Calibri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9E45C-8CD9-5079-5169-556405D30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BE135E-2566-4748-853C-8A3B78F0FB00}" type="slidenum">
              <a:rPr lang="en-IE" noProof="0" smtClean="0"/>
              <a:pPr/>
              <a:t>12</a:t>
            </a:fld>
            <a:endParaRPr lang="en-IE" noProof="0"/>
          </a:p>
        </p:txBody>
      </p:sp>
    </p:spTree>
    <p:extLst>
      <p:ext uri="{BB962C8B-B14F-4D97-AF65-F5344CB8AC3E}">
        <p14:creationId xmlns:p14="http://schemas.microsoft.com/office/powerpoint/2010/main" val="1481953995"/>
      </p:ext>
    </p:extLst>
  </p:cSld>
  <p:clrMapOvr>
    <a:masterClrMapping/>
  </p:clrMapOvr>
</p:sld>
</file>

<file path=ppt/theme/theme1.xml><?xml version="1.0" encoding="utf-8"?>
<a:theme xmlns:a="http://schemas.openxmlformats.org/drawingml/2006/main" name="TCD_PPT_Calibri_Option1a">
  <a:themeElements>
    <a:clrScheme name="0569B9">
      <a:dk1>
        <a:srgbClr val="000000"/>
      </a:dk1>
      <a:lt1>
        <a:srgbClr val="FFFFFF"/>
      </a:lt1>
      <a:dk2>
        <a:srgbClr val="0569B9"/>
      </a:dk2>
      <a:lt2>
        <a:srgbClr val="FFFFFF"/>
      </a:lt2>
      <a:accent1>
        <a:srgbClr val="0569B9"/>
      </a:accent1>
      <a:accent2>
        <a:srgbClr val="0569B9"/>
      </a:accent2>
      <a:accent3>
        <a:srgbClr val="505559"/>
      </a:accent3>
      <a:accent4>
        <a:srgbClr val="7C8083"/>
      </a:accent4>
      <a:accent5>
        <a:srgbClr val="0569B9"/>
      </a:accent5>
      <a:accent6>
        <a:srgbClr val="0569B9"/>
      </a:accent6>
      <a:hlink>
        <a:srgbClr val="000000"/>
      </a:hlink>
      <a:folHlink>
        <a:srgbClr val="000000"/>
      </a:folHlink>
    </a:clrScheme>
    <a:fontScheme name="Trinity Colleg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68A036B1212D48B2F81DDCEAB883AB" ma:contentTypeVersion="6" ma:contentTypeDescription="Create a new document." ma:contentTypeScope="" ma:versionID="5f01a0baa505cd84eab5cbfac1ddf4a1">
  <xsd:schema xmlns:xsd="http://www.w3.org/2001/XMLSchema" xmlns:xs="http://www.w3.org/2001/XMLSchema" xmlns:p="http://schemas.microsoft.com/office/2006/metadata/properties" xmlns:ns3="1e456fd4-601e-47ca-b3bb-cce94d91aa65" targetNamespace="http://schemas.microsoft.com/office/2006/metadata/properties" ma:root="true" ma:fieldsID="601002e7284f60eca39736692da27308" ns3:_="">
    <xsd:import namespace="1e456fd4-601e-47ca-b3bb-cce94d91aa6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456fd4-601e-47ca-b3bb-cce94d91aa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e456fd4-601e-47ca-b3bb-cce94d91aa65" xsi:nil="true"/>
  </documentManagement>
</p:properties>
</file>

<file path=customXml/itemProps1.xml><?xml version="1.0" encoding="utf-8"?>
<ds:datastoreItem xmlns:ds="http://schemas.openxmlformats.org/officeDocument/2006/customXml" ds:itemID="{E77B4593-9351-4B0C-8681-BD3965805A14}">
  <ds:schemaRefs>
    <ds:schemaRef ds:uri="1e456fd4-601e-47ca-b3bb-cce94d91aa6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425FCDF-702F-42A4-83C1-83FBC95C65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DF8D655-CCD2-4DEB-B1E8-E60010705F6F}">
  <ds:schemaRefs>
    <ds:schemaRef ds:uri="1e456fd4-601e-47ca-b3bb-cce94d91aa6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TCD_PPT_Calibri_Option1a.potx</Template>
  <Application>Microsoft Office PowerPoint</Application>
  <PresentationFormat>On-screen Show (16:9)</PresentationFormat>
  <Slides>12</Slides>
  <Notes>2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TCD_PPT_Calibri_Option1a</vt:lpstr>
      <vt:lpstr>EEP55C34 Advanced AI</vt:lpstr>
      <vt:lpstr>Introduction to Reinforcement Learning</vt:lpstr>
      <vt:lpstr>Introduction to Reinforcement Learning</vt:lpstr>
      <vt:lpstr>Introduction to Reinforcement Learning</vt:lpstr>
      <vt:lpstr>Reinforcement Learning for Pong</vt:lpstr>
      <vt:lpstr>CNN / Vision Transformer / SWIN </vt:lpstr>
      <vt:lpstr>Progress to date</vt:lpstr>
      <vt:lpstr>100,000 iterations</vt:lpstr>
      <vt:lpstr>300,000 iterations</vt:lpstr>
      <vt:lpstr>And still going...</vt:lpstr>
      <vt:lpstr>Thank You</vt:lpstr>
      <vt:lpstr>References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dtpgraphics</dc:creator>
  <cp:revision>4</cp:revision>
  <cp:lastPrinted>2014-12-16T10:33:11Z</cp:lastPrinted>
  <dcterms:created xsi:type="dcterms:W3CDTF">2013-07-29T09:34:50Z</dcterms:created>
  <dcterms:modified xsi:type="dcterms:W3CDTF">2026-04-09T10:25:12Z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0x0101006268A036B1212D48B2F81DDCEAB883AB</vt:lpwstr>
  </property>
</Properties>
</file>